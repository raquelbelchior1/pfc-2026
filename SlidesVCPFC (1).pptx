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7" roundtripDataSignature="AMtx7miT+Ccij9flWbGzAuudo30Sv058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EFE115-BF3D-4877-94DE-6E91CD921312}">
  <a:tblStyle styleId="{4FEFE115-BF3D-4877-94DE-6E91CD9213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7" name="Google Shape;58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9" name="Google Shape;609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4" name="Google Shape;64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5" name="Google Shape;66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7" name="Google Shape;67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0" name="Google Shape;71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6" name="Google Shape;78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1" name="Google Shape;811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6" name="Google Shape;866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1" name="Google Shape;88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2" name="Google Shape;922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3" name="Google Shape;953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5" name="Google Shape;96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0" name="Google Shape;100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7" name="Google Shape;1027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4" name="Google Shape;1044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0" name="Google Shape;106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f6b7aa8777_0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6" name="Google Shape;1076;g3f6b7aa8777_0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f6b7aa8777_0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4" name="Google Shape;1094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f6b7aa877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2" name="Google Shape;1112;g3f6b7aa877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g3f6b7aa877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9" name="Google Shape;1129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0" name="Google Shape;1150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6" name="Google Shape;1166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10" Type="http://schemas.openxmlformats.org/officeDocument/2006/relationships/image" Target="../media/image25.png"/><Relationship Id="rId9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10" Type="http://schemas.openxmlformats.org/officeDocument/2006/relationships/image" Target="../media/image34.png"/><Relationship Id="rId9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12.png"/><Relationship Id="rId7" Type="http://schemas.openxmlformats.org/officeDocument/2006/relationships/image" Target="../media/image30.png"/><Relationship Id="rId8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3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8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4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4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48.png"/><Relationship Id="rId5" Type="http://schemas.openxmlformats.org/officeDocument/2006/relationships/image" Target="../media/image45.png"/><Relationship Id="rId6" Type="http://schemas.openxmlformats.org/officeDocument/2006/relationships/image" Target="../media/image33.png"/><Relationship Id="rId7" Type="http://schemas.openxmlformats.org/officeDocument/2006/relationships/image" Target="../media/image47.png"/><Relationship Id="rId8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5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13.png"/><Relationship Id="rId7" Type="http://schemas.openxmlformats.org/officeDocument/2006/relationships/image" Target="../media/image44.png"/><Relationship Id="rId8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44.png"/><Relationship Id="rId7" Type="http://schemas.openxmlformats.org/officeDocument/2006/relationships/image" Target="../media/image54.png"/><Relationship Id="rId8" Type="http://schemas.openxmlformats.org/officeDocument/2006/relationships/image" Target="../media/image5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61.png"/><Relationship Id="rId5" Type="http://schemas.openxmlformats.org/officeDocument/2006/relationships/image" Target="../media/image6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6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4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dark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" name="Google Shape;1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8" y="963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1828800" y="8686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8C766"/>
                </a:solidFill>
                <a:latin typeface="Calibri"/>
                <a:ea typeface="Calibri"/>
                <a:cs typeface="Calibri"/>
                <a:sym typeface="Calibri"/>
              </a:rPr>
              <a:t>PROJETO DE FIM DE CURSO (PFC)  ·  VERIFICAÇÃO DE CURSO (VC)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CAIXÃO DE AREIA COM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REALIDADE AUMENTADA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550"/>
              <a:buFont typeface="Calibri"/>
              <a:buNone/>
            </a:pPr>
            <a:r>
              <a:rPr i="1" lang="en-US" sz="155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Sistema de baixo custo computacional para apoio à instrução militar no Corpo de Cadetes da AMAN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22960" y="4434840"/>
            <a:ext cx="4754880" cy="0"/>
          </a:xfrm>
          <a:prstGeom prst="straightConnector1">
            <a:avLst/>
          </a:prstGeom>
          <a:noFill/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ORIENTADORES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4919472"/>
            <a:ext cx="5486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Daniel Rodrigues dos Santos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 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Leonardo Assumpção Moreira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CEL</a:t>
            </a: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Bruno Eduardo Madeira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 Gabriel da Cruz Fontenelle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675120" y="461772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Alunos: Batista · Maldonado · Raquel Belchior  · Schuinki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75120" y="491947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Engenharia de Computação ,Eletrônica e Cartográfica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C6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8FA6C6"/>
                </a:solidFill>
                <a:latin typeface="Calibri"/>
                <a:ea typeface="Calibri"/>
                <a:cs typeface="Calibri"/>
                <a:sym typeface="Calibri"/>
              </a:rPr>
              <a:t>Engenharia de Computação  ·  Engenharia Eletrônica  ·  Engenharia Cartográfica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29" name="Google Shape;2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ROTEIRO DA APRESENTAÇÃO  ·  VERIFICAÇÃO DE CURSO (VC)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Sumário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2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2"/>
          <p:cNvSpPr/>
          <p:nvPr/>
        </p:nvSpPr>
        <p:spPr>
          <a:xfrm>
            <a:off x="502920" y="1600200"/>
            <a:ext cx="2670048" cy="448056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2920" y="1600200"/>
            <a:ext cx="2670048" cy="8229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545336" y="176479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5788" y="1905244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640080" y="2441448"/>
            <a:ext cx="2395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PARTE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267919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Introdução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31520" y="3291840"/>
            <a:ext cx="221284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Contexto e motivação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Visão geral e objetivo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Ferramentas utilizadas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374136" y="1600200"/>
            <a:ext cx="2670048" cy="448056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374136" y="1600200"/>
            <a:ext cx="2670048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416552" y="176479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7004" y="1905244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3511296" y="2441448"/>
            <a:ext cx="2395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PARTE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511296" y="267919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Engenharia de Computação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02736" y="3291840"/>
            <a:ext cx="221284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Arquitetura de software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Motor matemático (RANSAC + SVD)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Otimização de desempenho (2,57×)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Qualidade e TDD — 59 testes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Interface e guia de execução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245352" y="1600200"/>
            <a:ext cx="2670048" cy="448056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45352" y="1600200"/>
            <a:ext cx="2670048" cy="82296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287768" y="176479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8220" y="1905244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6382512" y="2441448"/>
            <a:ext cx="2395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PARTE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382512" y="267919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Engenharia Eletrônica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73952" y="3291840"/>
            <a:ext cx="221284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Hardware e adaptação do Kinect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Espelho refletor 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Desafios e roadmap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116568" y="1600200"/>
            <a:ext cx="2670048" cy="4480560"/>
          </a:xfrm>
          <a:prstGeom prst="roundRect">
            <a:avLst>
              <a:gd fmla="val 27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116568" y="1600200"/>
            <a:ext cx="2670048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158984" y="1764792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99436" y="1905244"/>
            <a:ext cx="304312" cy="30431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/>
          <p:nvPr/>
        </p:nvSpPr>
        <p:spPr>
          <a:xfrm>
            <a:off x="9253728" y="2441448"/>
            <a:ext cx="2395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PARTE 4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253728" y="2679192"/>
            <a:ext cx="23957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Engenharia Cartográfica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345168" y="3291840"/>
            <a:ext cx="221284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Novo caixão de areia</a:t>
            </a:r>
            <a:endParaRPr sz="108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Geração do MDE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Char char="–"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Do dado geoespacial ao GeoTIFF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Contexto e Motivação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7818120" y="523036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Caixão de areia tradicional, usado hoje na instrução tática da AMAN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02920" y="1600200"/>
            <a:ext cx="70408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1520" y="178308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Quem solicitou o projeto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31520" y="2167128"/>
            <a:ext cx="658368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Demanda da Seção de Simulação (Seç Sml) da Academia Militar das Agulhas Negras (AMAN), responsável pela instrução tática do Corpo de Cadetes.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 caixão de areia é hoje usado manualmente para representar terrenos relevantes em aulas e exercícios de tomada de decisão.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" y="3364992"/>
            <a:ext cx="704088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31520" y="3547872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Por que Realidade Aumentada?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31520" y="3931920"/>
            <a:ext cx="658368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 construção manual do relevo é lenta, imprecisa e depende fortemente da habilidade do instrutor.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Com Realidade Aumentada, o operador recebe o auxílio da Computação Gráfica para que o terreno seja representado de maneira mais fiel à realidade — sem abrir mão da experiência tátil da areia. Sistema de baixo custo, sem necessidade de GPU dedicada.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2476" y="1493899"/>
            <a:ext cx="3258117" cy="368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4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4"/>
          <p:cNvSpPr/>
          <p:nvPr/>
        </p:nvSpPr>
        <p:spPr>
          <a:xfrm>
            <a:off x="502920" y="14630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50"/>
              <a:buFont typeface="Calibri"/>
              <a:buNone/>
            </a:pPr>
            <a:r>
              <a:rPr i="1" lang="en-US" sz="14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Para alguém vendo o projeto pela primeira vez: qual problema, exatamente, estamos resolvendo?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02920" y="2148840"/>
            <a:ext cx="2697480" cy="333756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540764" y="240487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9994" y="255410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1. Representar o relevo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04088" y="3566160"/>
            <a:ext cx="229514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Como reproduzir fisicamente, em areia, um Modelo Digital de Elevação (MDE) de referência de forma objetiva?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8688" y="3689604"/>
            <a:ext cx="1645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3383280" y="2148840"/>
            <a:ext cx="2697480" cy="333756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421124" y="240487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0354" y="255410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3566160" y="31546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2. Medir o que existe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584448" y="3566160"/>
            <a:ext cx="229514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Como saber, em tempo real, a altura da areia que o operador já moldou, sem instrumentos manuais?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9048" y="3689604"/>
            <a:ext cx="1645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6263640" y="2148840"/>
            <a:ext cx="2697480" cy="333756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7301484" y="240487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50714" y="255410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6446520" y="31546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Comparar e guiar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464808" y="3566160"/>
            <a:ext cx="229514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Como indicar ao operador, célula a célula, onde cavar ou preencher até atingir o terreno-alvo?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9408" y="3689604"/>
            <a:ext cx="1645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/>
          <p:nvPr/>
        </p:nvSpPr>
        <p:spPr>
          <a:xfrm>
            <a:off x="9144000" y="2148840"/>
            <a:ext cx="2697480" cy="333756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10181844" y="240487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31074" y="255410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9326880" y="315468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4. Projetar de volta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345168" y="3566160"/>
            <a:ext cx="229514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Como levar essa informação de volta à mesa, via projetor, alinhada com o mundo físico (3D → 2D)?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 projeto une três frentes de engenharia — computação, eletrônica e cartografia — para resolver essa cadeia de ponta a ponta.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26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Visão Geral e Objetivo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5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5"/>
          <p:cNvSpPr/>
          <p:nvPr/>
        </p:nvSpPr>
        <p:spPr>
          <a:xfrm>
            <a:off x="502920" y="2280920"/>
            <a:ext cx="6949440" cy="2796539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31520" y="246380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 que é o sistema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731520" y="2847848"/>
            <a:ext cx="6492240" cy="377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 Caixão de Areia é utilizado em instruções para o Corpo de Cadetes da Academia Militar das Agulhas Negras, como facilitador da visualização de terrenos relevantes.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Munido de Realidade Aumentada, o operador recebe o auxílio da Computação Gráfica para que o terreno seja representado de maneira mais fiel à realidade.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Permitir uma interação tangível entre o operador e o terreno, com a replicação de um Modelo Digital de Elevação (MDE) de referência, utilizando um sensor Microsoft Kinect e um projetor digital — rodando em qualquer computador Intel i5+, sem GPU dedicada.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7481" y="2317366"/>
            <a:ext cx="4111007" cy="2332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7818120" y="47122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Sistema: Projetor + Kinect + Caixão de areia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87325" y="3751504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Cronograma do Projeto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6"/>
          <p:cNvCxnSpPr/>
          <p:nvPr/>
        </p:nvCxnSpPr>
        <p:spPr>
          <a:xfrm>
            <a:off x="731520" y="2039112"/>
            <a:ext cx="10744200" cy="0"/>
          </a:xfrm>
          <a:prstGeom prst="straightConnector1">
            <a:avLst/>
          </a:prstGeom>
          <a:noFill/>
          <a:ln cap="flat" cmpd="sng" w="25400">
            <a:solidFill>
              <a:srgbClr val="C9D2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6"/>
          <p:cNvSpPr/>
          <p:nvPr/>
        </p:nvSpPr>
        <p:spPr>
          <a:xfrm>
            <a:off x="1587246" y="1938528"/>
            <a:ext cx="201168" cy="201168"/>
          </a:xfrm>
          <a:prstGeom prst="ellipse">
            <a:avLst/>
          </a:prstGeom>
          <a:solidFill>
            <a:srgbClr val="2E6DA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77240" y="1399032"/>
            <a:ext cx="1821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Fev–Abr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04672" y="2359152"/>
            <a:ext cx="1766316" cy="2148840"/>
          </a:xfrm>
          <a:prstGeom prst="roundRect">
            <a:avLst>
              <a:gd fmla="val 3624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96112" y="2487168"/>
            <a:ext cx="15834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80"/>
              <a:buFont typeface="Calibri"/>
              <a:buNone/>
            </a:pPr>
            <a:r>
              <a:rPr b="1" lang="en-US" sz="10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Levantamento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96112" y="3017520"/>
            <a:ext cx="1583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20"/>
              <a:buFont typeface="Calibri"/>
              <a:buNone/>
            </a:pPr>
            <a:r>
              <a:rPr lang="en-US" sz="92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Estudo do problema, requisitos da AMAN e definição da arquitetura.</a:t>
            </a:r>
            <a:endParaRPr sz="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99866" y="1938528"/>
            <a:ext cx="201168" cy="201168"/>
          </a:xfrm>
          <a:prstGeom prst="ellipse">
            <a:avLst/>
          </a:prstGeom>
          <a:solidFill>
            <a:srgbClr val="2E6DA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689860" y="1399032"/>
            <a:ext cx="1821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Mai–Jun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717292" y="2359152"/>
            <a:ext cx="1766316" cy="2148840"/>
          </a:xfrm>
          <a:prstGeom prst="roundRect">
            <a:avLst>
              <a:gd fmla="val 3624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808732" y="2487168"/>
            <a:ext cx="15834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80"/>
              <a:buFont typeface="Calibri"/>
              <a:buNone/>
            </a:pPr>
            <a:r>
              <a:rPr b="1" lang="en-US" sz="10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Motor Matemático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808732" y="3017520"/>
            <a:ext cx="1583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20"/>
              <a:buFont typeface="Calibri"/>
              <a:buNone/>
            </a:pPr>
            <a:r>
              <a:rPr lang="en-US" sz="92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RANSAC, SVD, Gram-Schmidt, Tsai e discretização em grade — com suíte de testes.</a:t>
            </a:r>
            <a:endParaRPr sz="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12486" y="1938528"/>
            <a:ext cx="201168" cy="201168"/>
          </a:xfrm>
          <a:prstGeom prst="ellipse">
            <a:avLst/>
          </a:prstGeom>
          <a:solidFill>
            <a:srgbClr val="2E6DA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602480" y="1399032"/>
            <a:ext cx="1821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Jun (VE)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629912" y="2359152"/>
            <a:ext cx="1766316" cy="2148840"/>
          </a:xfrm>
          <a:prstGeom prst="roundRect">
            <a:avLst>
              <a:gd fmla="val 3624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721352" y="2487168"/>
            <a:ext cx="15834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80"/>
              <a:buFont typeface="Calibri"/>
              <a:buNone/>
            </a:pPr>
            <a:r>
              <a:rPr b="1" lang="en-US" sz="10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Verificação Especial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721352" y="3017520"/>
            <a:ext cx="1583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20"/>
              <a:buFont typeface="Calibri"/>
              <a:buNone/>
            </a:pPr>
            <a:r>
              <a:rPr lang="en-US" sz="92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Motor, emulador (pá virtual), GUI e suíte de testes validados isoladamente.</a:t>
            </a:r>
            <a:endParaRPr sz="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325106" y="1938528"/>
            <a:ext cx="201168" cy="201168"/>
          </a:xfrm>
          <a:prstGeom prst="ellipse">
            <a:avLst/>
          </a:prstGeom>
          <a:solidFill>
            <a:srgbClr val="2E6DA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15100" y="1399032"/>
            <a:ext cx="1821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Jul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542532" y="2359152"/>
            <a:ext cx="1766316" cy="2148840"/>
          </a:xfrm>
          <a:prstGeom prst="roundRect">
            <a:avLst>
              <a:gd fmla="val 3624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633972" y="2487168"/>
            <a:ext cx="15834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80"/>
              <a:buFont typeface="Calibri"/>
              <a:buNone/>
            </a:pPr>
            <a:r>
              <a:rPr b="1" lang="en-US" sz="10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Otimização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633972" y="3017520"/>
            <a:ext cx="1583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20"/>
              <a:buFont typeface="Calibri"/>
              <a:buNone/>
            </a:pPr>
            <a:r>
              <a:rPr lang="en-US" sz="92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Ganho de 2,57× em desempenho: vetorização, cache e agrupamento de desenho.</a:t>
            </a:r>
            <a:endParaRPr sz="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237726" y="1938528"/>
            <a:ext cx="201168" cy="201168"/>
          </a:xfrm>
          <a:prstGeom prst="ellipse">
            <a:avLst/>
          </a:prstGeom>
          <a:solidFill>
            <a:srgbClr val="D4A017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427720" y="1399032"/>
            <a:ext cx="1821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Ago–Set (VC)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455152" y="2359152"/>
            <a:ext cx="1766316" cy="2148840"/>
          </a:xfrm>
          <a:prstGeom prst="roundRect">
            <a:avLst>
              <a:gd fmla="val 3624" name="adj"/>
            </a:avLst>
          </a:prstGeom>
          <a:solidFill>
            <a:srgbClr val="FFF7E2"/>
          </a:solidFill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8546592" y="2487168"/>
            <a:ext cx="15834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80"/>
              <a:buFont typeface="Calibri"/>
              <a:buNone/>
            </a:pPr>
            <a:r>
              <a:rPr b="1" lang="en-US" sz="10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Verificação Corrente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546592" y="3017520"/>
            <a:ext cx="1583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20"/>
              <a:buFont typeface="Calibri"/>
              <a:buNone/>
            </a:pPr>
            <a:r>
              <a:rPr lang="en-US" sz="92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Espelho refletor validado e novo caixão em marcenaria construído.</a:t>
            </a:r>
            <a:endParaRPr sz="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954262" y="2212848"/>
            <a:ext cx="594360" cy="274320"/>
          </a:xfrm>
          <a:prstGeom prst="roundRect">
            <a:avLst>
              <a:gd fmla="val 2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954262" y="2212848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1150346" y="1938528"/>
            <a:ext cx="201168" cy="201168"/>
          </a:xfrm>
          <a:prstGeom prst="ellipse">
            <a:avLst/>
          </a:prstGeom>
          <a:solidFill>
            <a:srgbClr val="2E6DA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340340" y="1399032"/>
            <a:ext cx="1821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6DA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2E6DA4"/>
                </a:solidFill>
                <a:latin typeface="Calibri"/>
                <a:ea typeface="Calibri"/>
                <a:cs typeface="Calibri"/>
                <a:sym typeface="Calibri"/>
              </a:rPr>
              <a:t>Nov–Dez (VF)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367772" y="2359152"/>
            <a:ext cx="1766316" cy="2148840"/>
          </a:xfrm>
          <a:prstGeom prst="roundRect">
            <a:avLst>
              <a:gd fmla="val 3624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0459212" y="2487168"/>
            <a:ext cx="15834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80"/>
              <a:buFont typeface="Calibri"/>
              <a:buNone/>
            </a:pPr>
            <a:r>
              <a:rPr b="1" lang="en-US" sz="10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Verificação Final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0459212" y="3017520"/>
            <a:ext cx="158343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20"/>
              <a:buFont typeface="Calibri"/>
              <a:buNone/>
            </a:pPr>
            <a:r>
              <a:rPr lang="en-US" sz="92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Integração no caixão definitivo, MDE real da AMAN e entrega à Seç Sml.</a:t>
            </a:r>
            <a:endParaRPr sz="9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02920" y="6172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Estamos hoje na Verificação Corrente (VC) — destacada em dourado.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Ferramentas e Tecnologias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7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7"/>
          <p:cNvSpPr/>
          <p:nvPr/>
        </p:nvSpPr>
        <p:spPr>
          <a:xfrm>
            <a:off x="502920" y="160020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04088" y="180136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789" y="1922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/>
          <p:nvPr/>
        </p:nvSpPr>
        <p:spPr>
          <a:xfrm>
            <a:off x="1325880" y="17830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Python 3.10+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04088" y="2404872"/>
            <a:ext cx="32552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Linguagem única do projeto: prototipagem rápida e forte ecossistema de visão computacional.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343400" y="160020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544568" y="180136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5269" y="1922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5166360" y="17830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544568" y="2404872"/>
            <a:ext cx="32552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Calibração de Tsai, projeção em lote (cv2.projectPoints) e rasterização por cor (cv2.fillPoly).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183880" y="160020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385048" y="180136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05749" y="192206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9006840" y="17830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385048" y="2404872"/>
            <a:ext cx="32552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RANSAC, SVD, Gram-Schmidt e acumulação vetorizada da grade via np.bincount.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502920" y="379476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04088" y="399592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4789" y="41166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132588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CustomTkinter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04088" y="4599432"/>
            <a:ext cx="32552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GUI de configuração moderna: abas, validação em tempo real, temas dark/light.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343400" y="379476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544568" y="399592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5269" y="41166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516636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Kinect v2 + fallback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544568" y="4599432"/>
            <a:ext cx="32552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PyKinect2 → Open3D (Azure Kinect/RealSense) → libfreenect (Kinect v1) → Simulação.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183880" y="3794760"/>
            <a:ext cx="365760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385048" y="3995928"/>
            <a:ext cx="502920" cy="50292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05749" y="411662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900684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Rasterio / GDAL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385048" y="4599432"/>
            <a:ext cx="325526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Leitura de arquivos GeoTIFF (leitura decimated) e manipulação de dados geoespaciais do MDE.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Repositório completo do projeto disponível no GitHub — código, 59 testes e histórico de commits (ver slide de repositório).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4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dark.png"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/>
          <p:nvPr/>
        </p:nvSpPr>
        <p:spPr>
          <a:xfrm>
            <a:off x="914400" y="2331720"/>
            <a:ext cx="1051560" cy="10515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774" y="2584094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2148840" y="239572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8C766"/>
                </a:solidFill>
                <a:latin typeface="Calibri"/>
                <a:ea typeface="Calibri"/>
                <a:cs typeface="Calibri"/>
                <a:sym typeface="Calibri"/>
              </a:rPr>
              <a:t>PARTE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2148840" y="2743200"/>
            <a:ext cx="8869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Engenharia de Computação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2148840" y="3794760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Arquitetura, motor matemático (RANSAC + SVD), otimização de desempenho, testes automatizados e interface.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251" name="Google Shape;2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9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Arquitetura de Software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9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9"/>
          <p:cNvSpPr/>
          <p:nvPr/>
        </p:nvSpPr>
        <p:spPr>
          <a:xfrm>
            <a:off x="502920" y="1554480"/>
            <a:ext cx="11155680" cy="658368"/>
          </a:xfrm>
          <a:prstGeom prst="roundRect">
            <a:avLst>
              <a:gd fmla="val 9722" name="adj"/>
            </a:avLst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31520" y="1554480"/>
            <a:ext cx="10698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main.py  —  Orquestrador / Máquina de Estados / GUI (CustomTkinter)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02920" y="2423160"/>
            <a:ext cx="361188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997964" y="2679192"/>
            <a:ext cx="621792" cy="621792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7194" y="282842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685800" y="34290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50"/>
              <a:buFont typeface="Courier New"/>
              <a:buNone/>
            </a:pPr>
            <a:r>
              <a:rPr b="1" lang="en-US" sz="1250">
                <a:solidFill>
                  <a:srgbClr val="1B3A6B"/>
                </a:solidFill>
                <a:latin typeface="Courier New"/>
                <a:ea typeface="Courier New"/>
                <a:cs typeface="Courier New"/>
                <a:sym typeface="Courier New"/>
              </a:rPr>
              <a:t>kinect_sensor.py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85800" y="37216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Hardware + Fallback em Cascata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31520" y="4069080"/>
            <a:ext cx="3154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60"/>
              <a:buFont typeface="Calibri"/>
              <a:buNone/>
            </a:pPr>
            <a:r>
              <a:rPr lang="en-US" sz="10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Kinect v2 → Open3D → Kinect v1 → Simulação. Isola toda a leitura de hardware do resto do sistema.</a:t>
            </a:r>
            <a:endParaRPr sz="10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297680" y="2423160"/>
            <a:ext cx="361188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792724" y="2679192"/>
            <a:ext cx="621792" cy="621792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1954" y="282842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9"/>
          <p:cNvSpPr/>
          <p:nvPr/>
        </p:nvSpPr>
        <p:spPr>
          <a:xfrm>
            <a:off x="4480560" y="34290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50"/>
              <a:buFont typeface="Courier New"/>
              <a:buNone/>
            </a:pPr>
            <a:r>
              <a:rPr b="1" lang="en-US" sz="1250">
                <a:solidFill>
                  <a:srgbClr val="1B3A6B"/>
                </a:solidFill>
                <a:latin typeface="Courier New"/>
                <a:ea typeface="Courier New"/>
                <a:cs typeface="Courier New"/>
                <a:sym typeface="Courier New"/>
              </a:rPr>
              <a:t>motor_caixao_areia.py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480560" y="37216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Álgebra Linear Pura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526280" y="4069080"/>
            <a:ext cx="3154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60"/>
              <a:buFont typeface="Calibri"/>
              <a:buNone/>
            </a:pPr>
            <a:r>
              <a:rPr lang="en-US" sz="10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RANSAC · SVD · Gram-Schmidt · Tsai · Grade. Nenhuma dependência de hardware — 100% testável em isolamento.</a:t>
            </a:r>
            <a:endParaRPr sz="10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8092440" y="2423160"/>
            <a:ext cx="3611880" cy="2880360"/>
          </a:xfrm>
          <a:prstGeom prst="roundRect">
            <a:avLst>
              <a:gd fmla="val 254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9587484" y="2679192"/>
            <a:ext cx="621792" cy="621792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6714" y="282842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8275320" y="34290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50"/>
              <a:buFont typeface="Courier New"/>
              <a:buNone/>
            </a:pPr>
            <a:r>
              <a:rPr b="1" lang="en-US" sz="1250">
                <a:solidFill>
                  <a:srgbClr val="1B3A6B"/>
                </a:solidFill>
                <a:latin typeface="Courier New"/>
                <a:ea typeface="Courier New"/>
                <a:cs typeface="Courier New"/>
                <a:sym typeface="Courier New"/>
              </a:rPr>
              <a:t>mde_cartografia.py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8275320" y="372160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Modelo Digital de Elevação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321040" y="4069080"/>
            <a:ext cx="3154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60"/>
              <a:buFont typeface="Calibri"/>
              <a:buNone/>
            </a:pPr>
            <a:r>
              <a:rPr lang="en-US" sz="10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GeoTIFF real · Cubo Central · Morro Gaussiano. Fornece a altura-alvo Z(x,y) para qualquer célula da grade.</a:t>
            </a:r>
            <a:endParaRPr sz="10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02920" y="5440680"/>
            <a:ext cx="111556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Princípio: separação estrita — nenhuma dependência cruzada entre hardware, lógica matemática e dados. Cada módulo é testável em isolamento (ver Qualidade e TDD).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286" name="Google Shape;2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8" name="Google Shape;2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Motor Matemático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0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0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Pipeline completo: Kinect → nuvem 3D → plano → base → grade → projeção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02920" y="1828800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67512" y="1920240"/>
            <a:ext cx="3282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1. Back-Projection Pinhole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67512" y="2249424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Profundidade (mm) → nuvem 3D. Convenção: Z_mesa negativo (fundo do caixão).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3944" y="245516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4297680" y="1828800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7E2"/>
          </a:solidFill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4462272" y="1920240"/>
            <a:ext cx="3282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2. Ajuste de Plano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462272" y="2249424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RANSAC (1.000 iter, limiar 3 cm) isola a tampa; SVD refina sobre os inliers. Ver próximo slide.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8704" y="2455164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8092440" y="1828800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257032" y="1920240"/>
            <a:ext cx="3282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Gram-Schmidt + Matriz 4×4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257032" y="2249424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Base ortonormal da mesa. T_final salvo em calibration_data.json.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502920" y="3502152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67512" y="3593592"/>
            <a:ext cx="3282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4. Discretização em Grade 30×30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67512" y="3922776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900 células de 5 cm × 5 cm. Altura média por célula filtra ruído do sensor.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7" name="Google Shape;30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3944" y="4128516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4297680" y="3502152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462272" y="3593592"/>
            <a:ext cx="3282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5. Projeção Tsai em Lote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462272" y="3922776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961 vértices projetados via cv2.projectPoints — sem chamadas individuais por célula.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8704" y="4128516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/>
          <p:nvPr/>
        </p:nvSpPr>
        <p:spPr>
          <a:xfrm>
            <a:off x="8092440" y="3502152"/>
            <a:ext cx="361188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8257032" y="3593592"/>
            <a:ext cx="32826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6. Rasterização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257032" y="3922776"/>
            <a:ext cx="3282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cv2.fillPoly agrupado por cor — máximo 3 chamadas de desenho por frame.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502920" y="608076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Pipeline com transparência matemática validada por 59 testes unitários automatizados.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323" name="Google Shape;3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1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1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Ajuste de Plano: RANSAC + SVD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1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1"/>
          <p:cNvSpPr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Resposta ao ponto levantado na VE: aplicar SVD diretamente sobre toda a nuvem de pontos é frágil — a solução final isola os pontos válidos antes de ajustar o plano.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02920" y="2011680"/>
            <a:ext cx="5394960" cy="342900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731520" y="217627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ANTES · SVD sobre toda a nuvem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31520" y="2606040"/>
            <a:ext cx="4937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 campo de visão do Kinect é mais largo que o caixão: captura moldura, piso e ruído junto com a tampa.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SVD aplicado a essa nuvem completa é sensível a esses outliers — o plano estimado se desvia da tampa real.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Sem filtragem prévia, a calibração fica instável entre execuções.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172200" y="2011680"/>
            <a:ext cx="5394960" cy="3429000"/>
          </a:xfrm>
          <a:prstGeom prst="roundRect">
            <a:avLst>
              <a:gd fmla="val 2133" name="adj"/>
            </a:avLst>
          </a:prstGeom>
          <a:solidFill>
            <a:srgbClr val="FFF7E2"/>
          </a:solidFill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446520" y="217627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DEPOIS · RANSAC isola, SVD refina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446520" y="2606040"/>
            <a:ext cx="4937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RANSAC (1.000 iterações, limiar de 3 cm, viés Gaussiano para o centro) isola o plano dominante — a tampa.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SVD refina o vetor normal usando apenas os inliers aprovados pelo RANSAC, já livres de moldura/piso/ruído.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Gram-Schmidt gera a base ortonormal; T_final (4×4) é salva em calibration_data.json e reaproveitada nas próximas execuções.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2744" y="3607308"/>
            <a:ext cx="201168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Resultado: calibração robusta e repetível, validada por 15 testes dedicados (TestAjustePlano, TestRANSAC, TestGramSchmidt/Base, TestCalibracaoTampa).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345" name="Google Shape;3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2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2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Renderização por Malha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2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731520" y="17830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Grade de 30 × 30 células, projeção Tsai em lote e fillPoly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731520" y="2167128"/>
            <a:ext cx="6035040" cy="377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Discretização: 900 células de 5 cm × 5 cm cobrindo 1,5 m × 1,5 m. Altura média por célula funciona como filtro natural de ruído do sensor.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Pontos fora da mesa são descartados antes da acumulação. A acumulação em si usa np.bincount — rotina vetorizada em C, não um laço Python.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Projeção Tsai em lote: 961 vértices da malha são projetados de uma só vez via cv2.projectPoints. O cache de vértices só é recalculado ao recalibrar, sendo reaproveitado por milhares de frames.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Rasterização: cv2.fillPoly agrupa polígonos por cor — no máximo 3 chamadas de desenho por frame, cobertura de 100% sem buracos entre células.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7315200" y="17373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726680" y="17373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138160" y="17373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8549640" y="17373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961120" y="17373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9372600" y="17373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9784080" y="17373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10195560" y="17373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0607040" y="17373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1018520" y="17373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7315200" y="21488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7726680" y="21488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8138160" y="21488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8549640" y="21488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8961120" y="21488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9372600" y="21488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9784080" y="21488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0195560" y="21488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0607040" y="21488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1018520" y="21488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315200" y="25603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7726680" y="25603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8138160" y="25603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8549640" y="25603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8961120" y="25603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9372600" y="25603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9784080" y="25603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10195560" y="25603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10607040" y="25603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11018520" y="25603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7315200" y="29718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7726680" y="29718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8138160" y="29718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8549640" y="29718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8961120" y="29718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9372600" y="29718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9784080" y="29718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10195560" y="29718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10607040" y="29718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11018520" y="29718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315200" y="33832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7726680" y="33832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138160" y="33832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8549640" y="33832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8961120" y="33832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9372600" y="33832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9784080" y="33832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10195560" y="33832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10607040" y="33832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1018520" y="33832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7315200" y="37947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726680" y="37947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8138160" y="37947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8549640" y="37947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8961120" y="37947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9372600" y="37947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9784080" y="37947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10195560" y="37947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10607040" y="379476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11018520" y="379476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7315200" y="42062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7726680" y="42062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8138160" y="42062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8549640" y="42062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8961120" y="42062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9372600" y="42062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9784080" y="42062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0195560" y="420624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10607040" y="42062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11018520" y="420624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7315200" y="46177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7726680" y="46177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8138160" y="46177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8549640" y="46177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8961120" y="46177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9372600" y="46177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9784080" y="46177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10195560" y="461772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10607040" y="46177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11018520" y="461772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7315200" y="50292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7726680" y="50292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8138160" y="50292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8549640" y="50292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8961120" y="50292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9372600" y="50292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9784080" y="50292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10195560" y="502920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10607040" y="50292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11018520" y="502920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7315200" y="54406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7726680" y="54406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8138160" y="54406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8549640" y="54406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8961120" y="54406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9372600" y="54406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9784080" y="54406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10195560" y="5440680"/>
            <a:ext cx="411480" cy="411480"/>
          </a:xfrm>
          <a:prstGeom prst="rect">
            <a:avLst/>
          </a:prstGeom>
          <a:solidFill>
            <a:srgbClr val="C0392B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10607040" y="54406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11018520" y="5440680"/>
            <a:ext cx="411480" cy="411480"/>
          </a:xfrm>
          <a:prstGeom prst="rect">
            <a:avLst/>
          </a:prstGeom>
          <a:solidFill>
            <a:srgbClr val="1F6FB2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7315200" y="598932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Grade 30×30 simulada — vermelho: cavar · azul: preencher · verde: OK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462" name="Google Shape;4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3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4" name="Google Shape;4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3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3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Otimização de Desempenho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3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3"/>
          <p:cNvSpPr/>
          <p:nvPr/>
        </p:nvSpPr>
        <p:spPr>
          <a:xfrm>
            <a:off x="502920" y="1463040"/>
            <a:ext cx="3017520" cy="1417320"/>
          </a:xfrm>
          <a:prstGeom prst="roundRect">
            <a:avLst>
              <a:gd fmla="val 5161" name="adj"/>
            </a:avLst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502920" y="1536192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E8C766"/>
                </a:solidFill>
                <a:latin typeface="Cambria"/>
                <a:ea typeface="Cambria"/>
                <a:cs typeface="Cambria"/>
                <a:sym typeface="Cambria"/>
              </a:rPr>
              <a:t>2,57×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640080" y="2194560"/>
            <a:ext cx="2743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rápido — 45,5 ms → 17,7 ms/frame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3703320" y="1463040"/>
            <a:ext cx="79552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3931920" y="1645920"/>
            <a:ext cx="7498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~22 FPS → ~56 FPS (teórico). Medição com nuvem sintética de 200.000 pontos, grade 30×30, sem GPU, CPU Intel i5 de geração anterior.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3" name="Google Shape;473;p13"/>
          <p:cNvGraphicFramePr/>
          <p:nvPr/>
        </p:nvGraphicFramePr>
        <p:xfrm>
          <a:off x="50292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{4FEFE115-BF3D-4877-94DE-6E91CD921312}</a:tableStyleId>
              </a:tblPr>
              <a:tblGrid>
                <a:gridCol w="4480550"/>
                <a:gridCol w="5120650"/>
                <a:gridCol w="15544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Gargalo original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Solução implementada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Ganho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~900 chamadas de desenho/frame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Agrupamento por cor → máx. 3 chamadas/frame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 ~300×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Projeção geométrica recalculada a cada frame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 indexado pela calibração ativa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 ∞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Acumulação com np.add.at (não vetorizado)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np.bincount — rotina vetorizada em 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 4–8×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GeoTIFF carregado inteiro (~100 MB)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Decimated read — leitura reduzida na origem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 RAM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4" name="Google Shape;474;p13"/>
          <p:cNvSpPr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Granularidade da grade (30×30 / 5 cm) mantida — o ganho veio de eliminar trabalho redundante por frame, não de reduzir a fidelidade do relevo.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482" name="Google Shape;4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4" name="Google Shape;4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4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Emulador Interativo — Pá Virtual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7" name="Google Shape;487;p14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14"/>
          <p:cNvSpPr/>
          <p:nvPr/>
        </p:nvSpPr>
        <p:spPr>
          <a:xfrm>
            <a:off x="502920" y="155448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731520" y="17373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Cadeia de fallback (zero crash)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731520" y="2121408"/>
            <a:ext cx="4983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PyKinect2 — Kinect v2 via SDK oficial Microsoft.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Open3D — Azure Kinect / Intel RealSense.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libfreenect — Kinect v1.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Modo Simulação — pá virtual via mouse, sempre disponível.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6126480" y="155448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6355080" y="17373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Pá virtual (mouse callback)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6355080" y="2121408"/>
            <a:ext cx="4983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Botão esquerdo: cavar areia (diminui Z com decaimento Gaussiano).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Botão direito: preencher areia (aumenta Z).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Raio (padrão 5 cm) e intensidade ajustáveis na GUI.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Efeito acumulativo proporcional ao tempo de arraste.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502920" y="406908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731520" y="42519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Fluxo em modo simulação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731520" y="4636008"/>
            <a:ext cx="498348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Sistema inicializa sem sensor: Z_mesa ∈ [−0,20, 0,0] m sintético.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Calibração automática: T = Identidade (já em coordenadas da mesa).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Grade 30×30 atualizada em tempo real ao arrastar o mouse.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Janelas duplas: Projecao_Areia (limpa) + Gabarito_MDE (com HUD).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6126480" y="406908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6355080" y="42519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Teclas de operação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6355080" y="4636008"/>
            <a:ext cx="498348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[C] — Calibrar com tampa plana (RANSAC + SVD).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[M] — Alternar mapa: Cubo Central ↔ Morro Gaussiano.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[F] — Tela cheia (janela de projeção).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[Q] / ESC — Encerrar.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507" name="Google Shape;5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5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9" name="Google Shape;5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5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Resiliência e Fallback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2" name="Google Shape;512;p15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15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1" lang="en-US" sz="13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“Zero Crash” — o sistema nunca encerra abruptamente por ausência de hardware ou arquivo.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502920" y="187452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5"/>
          <p:cNvSpPr/>
          <p:nvPr/>
        </p:nvSpPr>
        <p:spPr>
          <a:xfrm>
            <a:off x="667512" y="20208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6" name="Google Shape;5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684" y="211299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5"/>
          <p:cNvSpPr/>
          <p:nvPr/>
        </p:nvSpPr>
        <p:spPr>
          <a:xfrm>
            <a:off x="3063240" y="2039112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3063240" y="2039112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5"/>
          <p:cNvSpPr/>
          <p:nvPr/>
        </p:nvSpPr>
        <p:spPr>
          <a:xfrm>
            <a:off x="667512" y="2478024"/>
            <a:ext cx="3282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Sensor ausente / indisponível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67512" y="283464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60"/>
              <a:buFont typeface="Calibri"/>
              <a:buNone/>
            </a:pPr>
            <a:r>
              <a:rPr lang="en-US" sz="9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Entra automaticamente em Modo Simulação. Pá virtual via mouse permanece funcional — a demonstração continua sem interrupção.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/>
          <p:nvPr/>
        </p:nvSpPr>
        <p:spPr>
          <a:xfrm>
            <a:off x="4297680" y="187452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4462272" y="20208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4444" y="211299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5"/>
          <p:cNvSpPr/>
          <p:nvPr/>
        </p:nvSpPr>
        <p:spPr>
          <a:xfrm>
            <a:off x="6858000" y="2039112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5"/>
          <p:cNvSpPr/>
          <p:nvPr/>
        </p:nvSpPr>
        <p:spPr>
          <a:xfrm>
            <a:off x="6858000" y="2039112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4462272" y="2478024"/>
            <a:ext cx="3282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GeoTIFF não encontrado / corrompido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4462272" y="283464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60"/>
              <a:buFont typeface="Calibri"/>
              <a:buNone/>
            </a:pPr>
            <a:r>
              <a:rPr lang="en-US" sz="9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Fallback automático para mapa sintético (Cubo Central ou Morro Gaussiano), alternável em tempo real pela tecla [M].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5"/>
          <p:cNvSpPr/>
          <p:nvPr/>
        </p:nvSpPr>
        <p:spPr>
          <a:xfrm>
            <a:off x="8092440" y="187452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5"/>
          <p:cNvSpPr/>
          <p:nvPr/>
        </p:nvSpPr>
        <p:spPr>
          <a:xfrm>
            <a:off x="8257032" y="20208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0" name="Google Shape;5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9204" y="211299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5"/>
          <p:cNvSpPr/>
          <p:nvPr/>
        </p:nvSpPr>
        <p:spPr>
          <a:xfrm>
            <a:off x="10652760" y="2039112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5"/>
          <p:cNvSpPr/>
          <p:nvPr/>
        </p:nvSpPr>
        <p:spPr>
          <a:xfrm>
            <a:off x="10652760" y="2039112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/>
          <p:nvPr/>
        </p:nvSpPr>
        <p:spPr>
          <a:xfrm>
            <a:off x="8257032" y="2478024"/>
            <a:ext cx="3282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Falha na calibração (RANSAC)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5"/>
          <p:cNvSpPr/>
          <p:nvPr/>
        </p:nvSpPr>
        <p:spPr>
          <a:xfrm>
            <a:off x="8257032" y="283464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60"/>
              <a:buFont typeface="Calibri"/>
              <a:buNone/>
            </a:pPr>
            <a:r>
              <a:rPr lang="en-US" sz="9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RuntimeError capturado — volta para IDLE, mensagem no console e tecla [C] disponível para nova tentativa.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502920" y="393192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/>
          <p:nvPr/>
        </p:nvSpPr>
        <p:spPr>
          <a:xfrm>
            <a:off x="667512" y="40782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9684" y="417039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5"/>
          <p:cNvSpPr/>
          <p:nvPr/>
        </p:nvSpPr>
        <p:spPr>
          <a:xfrm>
            <a:off x="3063240" y="4096512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3063240" y="4096512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667512" y="4535424"/>
            <a:ext cx="3282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Calibração JSON corrompida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667512" y="489204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60"/>
              <a:buFont typeface="Calibri"/>
              <a:buNone/>
            </a:pPr>
            <a:r>
              <a:rPr lang="en-US" sz="9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carregar_matriz_calibracao() retorna None; o fluxo redireciona para calibração manual, sem exceção propagada ao usuário.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4297680" y="393192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4462272" y="40782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4" name="Google Shape;54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4444" y="417039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5"/>
          <p:cNvSpPr/>
          <p:nvPr/>
        </p:nvSpPr>
        <p:spPr>
          <a:xfrm>
            <a:off x="6858000" y="4096512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6858000" y="4096512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4462272" y="4535424"/>
            <a:ext cx="3282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Open3D não instalado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4462272" y="489204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60"/>
              <a:buFont typeface="Calibri"/>
              <a:buNone/>
            </a:pPr>
            <a:r>
              <a:rPr lang="en-US" sz="9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Teste de importação ignorado (skipTest) — 58 de 59 testes passam normalmente; funcionalidade alternativa disponível.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8092440" y="3931920"/>
            <a:ext cx="3611880" cy="1874520"/>
          </a:xfrm>
          <a:prstGeom prst="roundRect">
            <a:avLst>
              <a:gd fmla="val 3902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8257032" y="407822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1" name="Google Shape;55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49204" y="4170396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15"/>
          <p:cNvSpPr/>
          <p:nvPr/>
        </p:nvSpPr>
        <p:spPr>
          <a:xfrm>
            <a:off x="10652760" y="4096512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10652760" y="4096512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8257032" y="4535424"/>
            <a:ext cx="32826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Console Windows cp1252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8257032" y="4892040"/>
            <a:ext cx="328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60"/>
              <a:buFont typeface="Calibri"/>
              <a:buNone/>
            </a:pPr>
            <a:r>
              <a:rPr lang="en-US" sz="96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stdout/stderr reconfigurados para UTF-8 — símbolos matemáticos (∈, →, ×) impressos sem erro na apresentação.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563" name="Google Shape;5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6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5" name="Google Shape;56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6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6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Regra de Negócio — Lógica de Cores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8" name="Google Shape;568;p16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16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B3A6B"/>
                </a:solidFill>
                <a:latin typeface="Courier New"/>
                <a:ea typeface="Courier New"/>
                <a:cs typeface="Courier New"/>
                <a:sym typeface="Courier New"/>
              </a:rPr>
              <a:t>Classificação: diff = Z_real − Z_alvo(x, y)   ·   |diff| ≤ τ → OK   (τ = ±2 cm)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502920" y="1965960"/>
            <a:ext cx="3611880" cy="3200400"/>
          </a:xfrm>
          <a:prstGeom prst="roundRect">
            <a:avLst>
              <a:gd fmla="val 2286" name="adj"/>
            </a:avLst>
          </a:prstGeom>
          <a:solidFill>
            <a:srgbClr val="C0392B"/>
          </a:solidFill>
          <a:ln>
            <a:noFill/>
          </a:ln>
          <a:effectLst>
            <a:outerShdw blurRad="101600" rotWithShape="0" algn="bl" dir="5400000" dist="25400">
              <a:srgbClr val="1B3A6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685800" y="21488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VERMELHO — Cavar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685800" y="2697480"/>
            <a:ext cx="32461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Z_real &gt; Z_alvo + 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Areia em excesso — operador deve remover areia.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Ex.: platô alvo −10 cm, areia atual em −5 cm.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685800" y="478231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BGR: (0, 0, 255)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4297680" y="1965960"/>
            <a:ext cx="3611880" cy="3200400"/>
          </a:xfrm>
          <a:prstGeom prst="roundRect">
            <a:avLst>
              <a:gd fmla="val 2286" name="adj"/>
            </a:avLst>
          </a:prstGeom>
          <a:solidFill>
            <a:srgbClr val="1E8449"/>
          </a:solidFill>
          <a:ln>
            <a:noFill/>
          </a:ln>
          <a:effectLst>
            <a:outerShdw blurRad="101600" rotWithShape="0" algn="bl" dir="5400000" dist="25400">
              <a:srgbClr val="1B3A6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4480560" y="21488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VERDE — Conforme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4480560" y="2697480"/>
            <a:ext cx="32461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|Z_real − Z_alvo| ≤ 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Altura dentro da tolerância (±2 cm = ±20 mm).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Sinal de aprovação: não há ação necessária.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4480560" y="478231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BGR: (0, 255, 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8092440" y="1965960"/>
            <a:ext cx="3611880" cy="3200400"/>
          </a:xfrm>
          <a:prstGeom prst="roundRect">
            <a:avLst>
              <a:gd fmla="val 2286" name="adj"/>
            </a:avLst>
          </a:prstGeom>
          <a:solidFill>
            <a:srgbClr val="1F6FB2"/>
          </a:solidFill>
          <a:ln>
            <a:noFill/>
          </a:ln>
          <a:effectLst>
            <a:outerShdw blurRad="101600" rotWithShape="0" algn="bl" dir="5400000" dist="25400">
              <a:srgbClr val="1B3A6B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8275320" y="214884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AZUL — Preencher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8275320" y="2697480"/>
            <a:ext cx="32461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Z_real &lt; Z_alvo − 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Areia insuficiente — operador deve adicionar areia.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–"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Ex.: platô alvo −10 cm, areia atual em −15 cm.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8275320" y="478231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BGR: (255, 0, 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502920" y="53492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Implementação vetorizada: cor_por_diferenca_vetorizado() classifica as 900 células em uma única operação NumPy por frame.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590" name="Google Shape;5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9954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17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2" name="Google Shape;5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17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Qualidade e TDD — Testes Automatizados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5" name="Google Shape;595;p17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17"/>
          <p:cNvSpPr/>
          <p:nvPr/>
        </p:nvSpPr>
        <p:spPr>
          <a:xfrm>
            <a:off x="502920" y="1463040"/>
            <a:ext cx="3017520" cy="1965960"/>
          </a:xfrm>
          <a:prstGeom prst="roundRect">
            <a:avLst>
              <a:gd fmla="val 3721" name="adj"/>
            </a:avLst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7"/>
          <p:cNvSpPr/>
          <p:nvPr/>
        </p:nvSpPr>
        <p:spPr>
          <a:xfrm>
            <a:off x="502920" y="1536192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4200"/>
              <a:buFont typeface="Cambria"/>
              <a:buNone/>
            </a:pPr>
            <a:r>
              <a:rPr b="1" lang="en-US" sz="4200">
                <a:solidFill>
                  <a:srgbClr val="E8C766"/>
                </a:solidFill>
                <a:latin typeface="Cambria"/>
                <a:ea typeface="Cambria"/>
                <a:cs typeface="Cambria"/>
                <a:sym typeface="Cambria"/>
              </a:rPr>
              <a:t>59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testes automatizados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777240" y="2651760"/>
            <a:ext cx="1221638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777240" y="2651760"/>
            <a:ext cx="12216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58 APROVADOS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777240" y="2999232"/>
            <a:ext cx="1042416" cy="274320"/>
          </a:xfrm>
          <a:prstGeom prst="roundRect">
            <a:avLst>
              <a:gd fmla="val 20000" name="adj"/>
            </a:avLst>
          </a:prstGeom>
          <a:solidFill>
            <a:srgbClr val="5B647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777240" y="299923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IGNORADO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/>
          <p:nvPr/>
        </p:nvSpPr>
        <p:spPr>
          <a:xfrm>
            <a:off x="640080" y="33375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9D6E8"/>
                </a:solidFill>
                <a:latin typeface="Courier New"/>
                <a:ea typeface="Courier New"/>
                <a:cs typeface="Courier New"/>
                <a:sym typeface="Courier New"/>
              </a:rPr>
              <a:t>python -m pytest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950"/>
              <a:buFont typeface="Courier New"/>
              <a:buNone/>
            </a:pPr>
            <a:r>
              <a:rPr lang="en-US" sz="950">
                <a:solidFill>
                  <a:srgbClr val="C9D6E8"/>
                </a:solidFill>
                <a:latin typeface="Courier New"/>
                <a:ea typeface="Courier New"/>
                <a:cs typeface="Courier New"/>
                <a:sym typeface="Courier New"/>
              </a:rPr>
              <a:t>test_motor_caixao.py -v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3794760" y="1463040"/>
            <a:ext cx="7863840" cy="461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TestAjustePlano (4) — plano horizontal, inclinado, normal unitária, pontos insuficientes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TestRANSAC (5) — outliers de moldura/piso, limiar 3 cm, refinamento SVD sobre inliers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TestGramSchmidt + Base (5) — ortogonalidade, vetores paralelos, base ortonormal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TestMatrizTransformacao (3) — identidade, translação, ponto no plano → Z=0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TestDeteccaoTabuleiro (2) — imagem branca (sem cantos) e tabuleiro sintético 7×5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TestProjecaoTsai (3) — ponto principal, deslocamento X, múltiplos pontos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TestBackProjectionMesa (4) — pixel central, deslocado, fora do alcance, sinal Z_mesa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TestCalibracaoTampa (6) — normal vertical, Z=0, T_shift, areia negativa, RANSAC+moldura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TestPipeline + Persistência (6) — pipeline integrado, cache JSON round-trip, JSON corrompido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TestCuboCentral (7) — platô −10 cm, fundo −20 cm, bordas, vetorizado, AdaptadorMDE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2430"/>
              </a:buClr>
              <a:buSzPts val="1550"/>
              <a:buFont typeface="Calibri"/>
              <a:buChar char="–"/>
            </a:pPr>
            <a:r>
              <a:rPr lang="en-US" sz="15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TestColoraçãoBGR + Grade (13) — todas as combinações de cor + renderização ponta a ponta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612" name="Google Shape;6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18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4" name="Google Shape;6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8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Guia de Execução — Instalação Simplificada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7" name="Google Shape;617;p18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18"/>
          <p:cNvSpPr/>
          <p:nvPr/>
        </p:nvSpPr>
        <p:spPr>
          <a:xfrm>
            <a:off x="502920" y="1600200"/>
            <a:ext cx="544068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731520" y="1764792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1. Criar ambiente virtual isolado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731520" y="2167128"/>
            <a:ext cx="4983480" cy="457200"/>
          </a:xfrm>
          <a:prstGeom prst="roundRect">
            <a:avLst>
              <a:gd fmla="val 10000" name="adj"/>
            </a:avLst>
          </a:prstGeom>
          <a:solidFill>
            <a:srgbClr val="0E23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868680" y="216712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3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8FE3A0"/>
                </a:solidFill>
                <a:latin typeface="Courier New"/>
                <a:ea typeface="Courier New"/>
                <a:cs typeface="Courier New"/>
                <a:sym typeface="Courier New"/>
              </a:rPr>
              <a:t>python -m venv kinect_env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731520" y="2743200"/>
            <a:ext cx="4983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Isola as dependências do projeto — não interfere com outras instalações Python.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6217920" y="1600200"/>
            <a:ext cx="544068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6446520" y="1764792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2. Ativar o ambiente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446520" y="2167128"/>
            <a:ext cx="4983480" cy="457200"/>
          </a:xfrm>
          <a:prstGeom prst="roundRect">
            <a:avLst>
              <a:gd fmla="val 10000" name="adj"/>
            </a:avLst>
          </a:prstGeom>
          <a:solidFill>
            <a:srgbClr val="0E23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6583680" y="216712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3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8FE3A0"/>
                </a:solidFill>
                <a:latin typeface="Courier New"/>
                <a:ea typeface="Courier New"/>
                <a:cs typeface="Courier New"/>
                <a:sym typeface="Courier New"/>
              </a:rPr>
              <a:t>.\kinect_env\Scripts\Activate.ps1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6446520" y="2743200"/>
            <a:ext cx="4983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Ativa o ambiente isolado (PowerShell). O prompt muda para (kinect_env).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502920" y="3794760"/>
            <a:ext cx="544068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731520" y="3959352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Instalar dependências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731520" y="4361688"/>
            <a:ext cx="4983480" cy="457200"/>
          </a:xfrm>
          <a:prstGeom prst="roundRect">
            <a:avLst>
              <a:gd fmla="val 10000" name="adj"/>
            </a:avLst>
          </a:prstGeom>
          <a:solidFill>
            <a:srgbClr val="0E23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868680" y="436168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3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8FE3A0"/>
                </a:solidFill>
                <a:latin typeface="Courier New"/>
                <a:ea typeface="Courier New"/>
                <a:cs typeface="Courier New"/>
                <a:sym typeface="Courier New"/>
              </a:rPr>
              <a:t>pip install -r requirements.txt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/>
          <p:nvPr/>
        </p:nvSpPr>
        <p:spPr>
          <a:xfrm>
            <a:off x="731520" y="4937760"/>
            <a:ext cx="4983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Instala automaticamente todas as bibliotecas (numpy, opencv, customtkinter…).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6217920" y="3794760"/>
            <a:ext cx="5440680" cy="1965960"/>
          </a:xfrm>
          <a:prstGeom prst="roundRect">
            <a:avLst>
              <a:gd fmla="val 3721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8"/>
          <p:cNvSpPr/>
          <p:nvPr/>
        </p:nvSpPr>
        <p:spPr>
          <a:xfrm>
            <a:off x="6446520" y="3959352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4. Executar o sistema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6446520" y="4361688"/>
            <a:ext cx="4983480" cy="457200"/>
          </a:xfrm>
          <a:prstGeom prst="roundRect">
            <a:avLst>
              <a:gd fmla="val 10000" name="adj"/>
            </a:avLst>
          </a:prstGeom>
          <a:solidFill>
            <a:srgbClr val="0E23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6583680" y="4361688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E3A0"/>
              </a:buClr>
              <a:buSzPts val="1150"/>
              <a:buFont typeface="Courier New"/>
              <a:buNone/>
            </a:pPr>
            <a:r>
              <a:rPr lang="en-US" sz="1150">
                <a:solidFill>
                  <a:srgbClr val="8FE3A0"/>
                </a:solidFill>
                <a:latin typeface="Courier New"/>
                <a:ea typeface="Courier New"/>
                <a:cs typeface="Courier New"/>
                <a:sym typeface="Courier New"/>
              </a:rPr>
              <a:t>python main.py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6446520" y="4937760"/>
            <a:ext cx="4983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Abre a GUI de configuração. Selecionar mapa ou modo demonstração e iniciar.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502920" y="5715000"/>
            <a:ext cx="1115568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731520" y="5897880"/>
            <a:ext cx="10698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Após instalação: 100% offline · sem dependência de internet · operável por instrutor sem formação em TI.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647" name="Google Shape;6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8448" y="-210312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19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9" name="Google Shape;6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9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DE COMPUTAÇÃO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Interface do Usuário — CustomTkinter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2" name="Google Shape;652;p19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19"/>
          <p:cNvSpPr/>
          <p:nvPr/>
        </p:nvSpPr>
        <p:spPr>
          <a:xfrm>
            <a:off x="8564305" y="6291417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Fonte: Autor</a:t>
            </a:r>
            <a:endParaRPr/>
          </a:p>
        </p:txBody>
      </p:sp>
      <p:sp>
        <p:nvSpPr>
          <p:cNvPr id="654" name="Google Shape;654;p19"/>
          <p:cNvSpPr/>
          <p:nvPr/>
        </p:nvSpPr>
        <p:spPr>
          <a:xfrm>
            <a:off x="502920" y="1600200"/>
            <a:ext cx="7452360" cy="210312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9"/>
          <p:cNvSpPr/>
          <p:nvPr/>
        </p:nvSpPr>
        <p:spPr>
          <a:xfrm>
            <a:off x="731520" y="1783080"/>
            <a:ext cx="6995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GUI de configuração inicial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9"/>
          <p:cNvSpPr/>
          <p:nvPr/>
        </p:nvSpPr>
        <p:spPr>
          <a:xfrm>
            <a:off x="731520" y="2167128"/>
            <a:ext cx="6995160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Layout em abas: Mapa Tático · Dimensões Físicas · Simulação Avançada.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Validação em tempo real: borda vermelha + mensagem enquanto há erro; botão INICIAR habilitado apenas com todos os campos válidos.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Salvar / carregar configuração como perfil .json (uso recorrente) e troca de tema dark/light/sistema.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502920" y="3840480"/>
            <a:ext cx="7452360" cy="224028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9"/>
          <p:cNvSpPr/>
          <p:nvPr/>
        </p:nvSpPr>
        <p:spPr>
          <a:xfrm>
            <a:off x="731520" y="4023360"/>
            <a:ext cx="6995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Parâmetros configuráveis e janelas em execução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731520" y="4407408"/>
            <a:ext cx="699516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Mesa (m), altura do Kinect, tolerância de cor τ, resolução do projetor, células da malha, iterações/limiar do RANSAC, raio/intensidade da pá virtual.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Projecao_Areia: grade AR pura (sem HUD), projetada sobre a areia física.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Gabarito_MDE: heatmap de referência + legenda de cores + HUD de estado e FPS — janela do operador, nunca projetada.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2" name="Google Shape;6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7417" y="1745250"/>
            <a:ext cx="3653904" cy="429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40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dark.png" id="668" name="Google Shape;6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20"/>
          <p:cNvSpPr/>
          <p:nvPr/>
        </p:nvSpPr>
        <p:spPr>
          <a:xfrm>
            <a:off x="914400" y="2331720"/>
            <a:ext cx="1051560" cy="10515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0" name="Google Shape;6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774" y="2584094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0"/>
          <p:cNvSpPr/>
          <p:nvPr/>
        </p:nvSpPr>
        <p:spPr>
          <a:xfrm>
            <a:off x="2148840" y="239572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8C766"/>
                </a:solidFill>
                <a:latin typeface="Calibri"/>
                <a:ea typeface="Calibri"/>
                <a:cs typeface="Calibri"/>
                <a:sym typeface="Calibri"/>
              </a:rPr>
              <a:t>PARTE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2148840" y="2743200"/>
            <a:ext cx="8869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Engenharia Eletrônica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2148840" y="3794760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Hardware, adaptação do Kinect, solução de projeção por espelho e o novo caixão em marcenaria.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680" name="Google Shape;6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1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2" name="Google Shape;6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1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Hardware do Sistema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5" name="Google Shape;685;p21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6" name="Google Shape;686;p21"/>
          <p:cNvSpPr/>
          <p:nvPr/>
        </p:nvSpPr>
        <p:spPr>
          <a:xfrm>
            <a:off x="502920" y="1600200"/>
            <a:ext cx="3611880" cy="41148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1997964" y="185623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8" name="Google Shape;6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7194" y="200546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1"/>
          <p:cNvSpPr/>
          <p:nvPr/>
        </p:nvSpPr>
        <p:spPr>
          <a:xfrm>
            <a:off x="685800" y="26060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Microsoft Kinect v2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685800" y="291693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Sensor Principal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758952" y="3337560"/>
            <a:ext cx="3099816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330"/>
              <a:buFont typeface="Calibri"/>
              <a:buChar char="–"/>
            </a:pPr>
            <a:r>
              <a:rPr lang="en-US" sz="13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Resolução de profundidade: 512×424 px</a:t>
            </a:r>
            <a:endParaRPr sz="1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330"/>
              <a:buFont typeface="Calibri"/>
              <a:buChar char="–"/>
            </a:pPr>
            <a:r>
              <a:rPr lang="en-US" sz="13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Resolução de cor: 1920×1080 px</a:t>
            </a:r>
            <a:endParaRPr sz="1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330"/>
              <a:buFont typeface="Calibri"/>
              <a:buChar char="–"/>
            </a:pPr>
            <a:r>
              <a:rPr lang="en-US" sz="13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Alcance: 0,5 m a 4,5 m · FOV: 70° (H) × 60° (V)</a:t>
            </a:r>
            <a:endParaRPr sz="1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330"/>
              <a:buFont typeface="Calibri"/>
              <a:buChar char="–"/>
            </a:pPr>
            <a:r>
              <a:rPr lang="en-US" sz="13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Montado a 2,5 m de altura</a:t>
            </a:r>
            <a:endParaRPr sz="1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4297680" y="1600200"/>
            <a:ext cx="3611880" cy="41148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5792724" y="185623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4" name="Google Shape;6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1954" y="200546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1"/>
          <p:cNvSpPr/>
          <p:nvPr/>
        </p:nvSpPr>
        <p:spPr>
          <a:xfrm>
            <a:off x="4480560" y="26060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Projetor DLP / LCD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4480560" y="291693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Saída Visual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4553712" y="3337560"/>
            <a:ext cx="3099816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Resolução mínima: 640×480 px (SVGA)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Operação: apontado para baixo ou via espelho refletor (ver próximo slide)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Saída: grade colorida projetada sobre a areia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8092440" y="1600200"/>
            <a:ext cx="3611880" cy="41148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9587484" y="1856232"/>
            <a:ext cx="621792" cy="6217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0" name="Google Shape;70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36714" y="2005462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21"/>
          <p:cNvSpPr/>
          <p:nvPr/>
        </p:nvSpPr>
        <p:spPr>
          <a:xfrm>
            <a:off x="8275320" y="26060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Computador de Controle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8275320" y="291693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Processamento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8348472" y="3337560"/>
            <a:ext cx="3099816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CPU: qualquer Intel i5+ (sem GPU)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RAM: 8 GB recomendado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SO: Windows 10/11 (PowerShell)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430"/>
              <a:buFont typeface="Calibri"/>
              <a:buChar char="–"/>
            </a:pPr>
            <a:r>
              <a:rPr lang="en-US" sz="14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Sem necessidade de placa de vídeo dedicada — requisito de projeto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502920" y="5806440"/>
            <a:ext cx="1115568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Dimensões físicas da mesa: 1,18 m × 0,6 m × 0,20 m de profundidade  ·  Grade de discretização: 30 × 30 células de 5 cm × 5 cm.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713" name="Google Shape;7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22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5" name="Google Shape;7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2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Adaptação do Kinect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22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9" name="Google Shape;719;p22"/>
          <p:cNvSpPr/>
          <p:nvPr/>
        </p:nvSpPr>
        <p:spPr>
          <a:xfrm>
            <a:off x="502920" y="155448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2"/>
          <p:cNvSpPr/>
          <p:nvPr/>
        </p:nvSpPr>
        <p:spPr>
          <a:xfrm>
            <a:off x="731520" y="17373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Parâmetros intrínsecos (Kinect v2)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/>
          <p:nvPr/>
        </p:nvSpPr>
        <p:spPr>
          <a:xfrm>
            <a:off x="731520" y="2121408"/>
            <a:ext cx="4983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fx = fy ≈ 525 px (focal em pixels); cx ≈ 319,5 px, cy ≈ 239,5 px (ponto principal).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Resolução: 512 × 424 px (profundidade) · faixa válida: 0,3 m a 4,5 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Mapa de profundidade: uint16 em milímetros.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6126480" y="1554480"/>
            <a:ext cx="5440680" cy="233172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2"/>
          <p:cNvSpPr/>
          <p:nvPr/>
        </p:nvSpPr>
        <p:spPr>
          <a:xfrm>
            <a:off x="6355080" y="17373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Limitações conhecidas do sensor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2"/>
          <p:cNvSpPr/>
          <p:nvPr/>
        </p:nvSpPr>
        <p:spPr>
          <a:xfrm>
            <a:off x="6355080" y="2121408"/>
            <a:ext cx="4983480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FOV mais largo que o caixão → captura moldura e piso (tratado via RANSAC).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Ruído de profundidade de ±1–2 cm, filtrado pela média por célula da grade.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Descontinuidade na borda de objetos (“flying pixels”).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Luz solar direta interfere na leitura de infravermelho.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2"/>
          <p:cNvSpPr/>
          <p:nvPr/>
        </p:nvSpPr>
        <p:spPr>
          <a:xfrm>
            <a:off x="502920" y="406908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/>
          <p:nvPr/>
        </p:nvSpPr>
        <p:spPr>
          <a:xfrm>
            <a:off x="731520" y="42519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Calibração da tampa (lid calibration)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/>
          <p:nvPr/>
        </p:nvSpPr>
        <p:spPr>
          <a:xfrm>
            <a:off x="731520" y="4636008"/>
            <a:ext cx="498348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Tampa lisa e plana cobre toda a área do caixão, representando Z_mesa = 0,0 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Com a tampa: RANSAC → SVD → Gram-Schmidt → T_final (4×4).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T_final salva em calibration_data.json — só é necessário recalibrar ao reposicionar fisicamente o sensor.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2"/>
          <p:cNvSpPr/>
          <p:nvPr/>
        </p:nvSpPr>
        <p:spPr>
          <a:xfrm>
            <a:off x="6126480" y="4069080"/>
            <a:ext cx="5440680" cy="201168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2"/>
          <p:cNvSpPr/>
          <p:nvPr/>
        </p:nvSpPr>
        <p:spPr>
          <a:xfrm>
            <a:off x="6126480" y="5742432"/>
            <a:ext cx="5440680" cy="338328"/>
          </a:xfrm>
          <a:prstGeom prst="rect">
            <a:avLst/>
          </a:prstGeom>
          <a:solidFill>
            <a:srgbClr val="0E2340">
              <a:alpha val="8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2"/>
          <p:cNvSpPr/>
          <p:nvPr/>
        </p:nvSpPr>
        <p:spPr>
          <a:xfrm>
            <a:off x="6236208" y="5742432"/>
            <a:ext cx="521208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Placa do Kinect v2 adaptada para uso em PC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22"/>
          <p:cNvPicPr preferRelativeResize="0"/>
          <p:nvPr/>
        </p:nvPicPr>
        <p:blipFill rotWithShape="1">
          <a:blip r:embed="rId5">
            <a:alphaModFix/>
          </a:blip>
          <a:srcRect b="33467" l="0" r="0" t="26667"/>
          <a:stretch/>
        </p:blipFill>
        <p:spPr>
          <a:xfrm>
            <a:off x="6446520" y="4196580"/>
            <a:ext cx="4558435" cy="1362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739" name="Google Shape;7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23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1" name="Google Shape;7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3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3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Validação do Sensor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4" name="Google Shape;744;p23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5" name="Google Shape;745;p23"/>
          <p:cNvSpPr/>
          <p:nvPr/>
        </p:nvSpPr>
        <p:spPr>
          <a:xfrm>
            <a:off x="502920" y="1600200"/>
            <a:ext cx="534924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/>
          <p:nvPr/>
        </p:nvSpPr>
        <p:spPr>
          <a:xfrm>
            <a:off x="731520" y="178308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Script de diagnóstico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3"/>
          <p:cNvSpPr/>
          <p:nvPr/>
        </p:nvSpPr>
        <p:spPr>
          <a:xfrm>
            <a:off x="731520" y="2167128"/>
            <a:ext cx="4892040" cy="377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Rodado antes do sistema principal para garantir que toda a cadeia de hardware e software está funcional.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6 verificações em sequência: Python 64-bit · SDK instalado (KINECTSDK20_DIR) · pykinect2 importável · PyKinectRuntime carregável · sensor abre sem erro · frame de profundidade recebido.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650"/>
              <a:buFont typeface="Calibri"/>
              <a:buChar char="–"/>
            </a:pPr>
            <a:r>
              <a:rPr lang="en-US" sz="16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Modo de simulação (sem Kinect): KinectSensor.esta_simulando = True; areia sintética em array 2D (NumPy), grade 30×30, Z_mesa ∈ [−0,20, 0,0] m mantido por clamp automático — mesmo pipeline matemático do modo real.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fc_deck/extracted_images/p23_i1.png" id="748" name="Google Shape;7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0760" y="1600200"/>
            <a:ext cx="557784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3"/>
          <p:cNvSpPr/>
          <p:nvPr/>
        </p:nvSpPr>
        <p:spPr>
          <a:xfrm>
            <a:off x="6080760" y="1600200"/>
            <a:ext cx="5577840" cy="448056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343A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757" name="Google Shape;7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2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9" name="Google Shape;7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24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4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Solução de Projeção: Espelho Refletor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2" name="Google Shape;762;p24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3" name="Google Shape;763;p24"/>
          <p:cNvSpPr/>
          <p:nvPr/>
        </p:nvSpPr>
        <p:spPr>
          <a:xfrm>
            <a:off x="10378440" y="457200"/>
            <a:ext cx="683971" cy="274320"/>
          </a:xfrm>
          <a:prstGeom prst="roundRect">
            <a:avLst>
              <a:gd fmla="val 2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4"/>
          <p:cNvSpPr/>
          <p:nvPr/>
        </p:nvSpPr>
        <p:spPr>
          <a:xfrm>
            <a:off x="10378440" y="457200"/>
            <a:ext cx="68397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NOVO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4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Projeção indireta via espelho plano — solução provisória validada no caixão antigo, enquanto o caixão novo era construído.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530352" y="3072209"/>
            <a:ext cx="11155680" cy="1600200"/>
          </a:xfrm>
          <a:prstGeom prst="roundRect">
            <a:avLst>
              <a:gd fmla="val 4571" name="adj"/>
            </a:avLst>
          </a:prstGeom>
          <a:solidFill>
            <a:srgbClr val="F5F7FA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1033272" y="3575129"/>
            <a:ext cx="594360" cy="59436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8" name="Google Shape;7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5918" y="3717775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24"/>
          <p:cNvSpPr/>
          <p:nvPr/>
        </p:nvSpPr>
        <p:spPr>
          <a:xfrm>
            <a:off x="713232" y="4187777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Projetor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4"/>
          <p:cNvSpPr/>
          <p:nvPr/>
        </p:nvSpPr>
        <p:spPr>
          <a:xfrm>
            <a:off x="1856232" y="3730577"/>
            <a:ext cx="237744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1856232" y="3392249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feixe horizontal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4"/>
          <p:cNvSpPr/>
          <p:nvPr/>
        </p:nvSpPr>
        <p:spPr>
          <a:xfrm rot="1500000">
            <a:off x="4370832" y="3392249"/>
            <a:ext cx="128016" cy="1051560"/>
          </a:xfrm>
          <a:prstGeom prst="rect">
            <a:avLst/>
          </a:prstGeom>
          <a:solidFill>
            <a:srgbClr val="2E6DA4"/>
          </a:solidFill>
          <a:ln cap="flat" cmpd="sng" w="12700">
            <a:solidFill>
              <a:srgbClr val="1B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4"/>
          <p:cNvSpPr/>
          <p:nvPr/>
        </p:nvSpPr>
        <p:spPr>
          <a:xfrm>
            <a:off x="4005072" y="4187777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Espelho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plano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4553712" y="3209369"/>
            <a:ext cx="274320" cy="5029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4919472" y="3209369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reflexão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vertical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4"/>
          <p:cNvSpPr/>
          <p:nvPr/>
        </p:nvSpPr>
        <p:spPr>
          <a:xfrm>
            <a:off x="5422392" y="3940889"/>
            <a:ext cx="2286000" cy="548640"/>
          </a:xfrm>
          <a:prstGeom prst="roundRect">
            <a:avLst>
              <a:gd fmla="val 8333" name="adj"/>
            </a:avLst>
          </a:prstGeom>
          <a:solidFill>
            <a:srgbClr val="D9B382"/>
          </a:solidFill>
          <a:ln cap="flat" cmpd="sng" w="19050">
            <a:solidFill>
              <a:srgbClr val="8B5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4"/>
          <p:cNvSpPr/>
          <p:nvPr/>
        </p:nvSpPr>
        <p:spPr>
          <a:xfrm>
            <a:off x="5422392" y="398660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3319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4A3319"/>
                </a:solidFill>
                <a:latin typeface="Calibri"/>
                <a:ea typeface="Calibri"/>
                <a:cs typeface="Calibri"/>
                <a:sym typeface="Calibri"/>
              </a:rPr>
              <a:t>Areia (caixão antigo)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8439912" y="3437969"/>
            <a:ext cx="548640" cy="548640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9" name="Google Shape;77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1586" y="3569643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24"/>
          <p:cNvSpPr/>
          <p:nvPr/>
        </p:nvSpPr>
        <p:spPr>
          <a:xfrm>
            <a:off x="7891272" y="4032329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Kinect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(leitura de profundidade)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4"/>
          <p:cNvSpPr/>
          <p:nvPr/>
        </p:nvSpPr>
        <p:spPr>
          <a:xfrm>
            <a:off x="9720072" y="3209369"/>
            <a:ext cx="17373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Caixão de Areia (antigo)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789" name="Google Shape;7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5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1" name="Google Shape;79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25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Solução de Projeção: Espelho Refletor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4" name="Google Shape;794;p25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5" name="Google Shape;795;p25"/>
          <p:cNvSpPr/>
          <p:nvPr/>
        </p:nvSpPr>
        <p:spPr>
          <a:xfrm>
            <a:off x="10378440" y="457200"/>
            <a:ext cx="683971" cy="274320"/>
          </a:xfrm>
          <a:prstGeom prst="roundRect">
            <a:avLst>
              <a:gd fmla="val 2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10378440" y="457200"/>
            <a:ext cx="68397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NOVO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Projeção indireta via espelho plano — solução provisória validada no caixão antigo, enquanto o caixão novo era construído.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5"/>
          <p:cNvSpPr/>
          <p:nvPr/>
        </p:nvSpPr>
        <p:spPr>
          <a:xfrm>
            <a:off x="6248402" y="2047738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/>
          <p:nvPr/>
        </p:nvSpPr>
        <p:spPr>
          <a:xfrm>
            <a:off x="6477002" y="2221992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Por que o espelho?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/>
          <p:nvPr/>
        </p:nvSpPr>
        <p:spPr>
          <a:xfrm>
            <a:off x="6477002" y="2606040"/>
            <a:ext cx="498348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Projetor apontado diretamente para baixo exigiria um suporte físico acima do kinect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Espaço físico limitado na sala, a estrutura original do caixão antigo não permite essa montagem.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O espelho plano permite posicionar o projetor lateralmente, em altura convencional; o feixe horizontal refletido torna-se vertical sobre a areia.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/>
          <p:nvPr/>
        </p:nvSpPr>
        <p:spPr>
          <a:xfrm>
            <a:off x="6248402" y="4297680"/>
            <a:ext cx="544068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17775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5"/>
          <p:cNvSpPr/>
          <p:nvPr/>
        </p:nvSpPr>
        <p:spPr>
          <a:xfrm>
            <a:off x="6477002" y="4480560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Resultado validado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6477002" y="4864608"/>
            <a:ext cx="4983480" cy="1307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Integração projetor + Kinect funcionando simultaneamente.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Atualização de cores em tempo real — vermelho, azul e verde — sobre a areia.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Sem interferência entre o feixe infravermelho do Kinect e a luz do projetor.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/>
          <p:nvPr/>
        </p:nvSpPr>
        <p:spPr>
          <a:xfrm>
            <a:off x="731520" y="5897880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FONTE: Autor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5"/>
          <p:cNvSpPr/>
          <p:nvPr/>
        </p:nvSpPr>
        <p:spPr>
          <a:xfrm>
            <a:off x="8750808" y="5824728"/>
            <a:ext cx="192024" cy="192024"/>
          </a:xfrm>
          <a:prstGeom prst="ellipse">
            <a:avLst/>
          </a:prstGeom>
          <a:solidFill>
            <a:srgbClr val="DDE3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8" name="Google Shape;808;p25"/>
          <p:cNvPicPr preferRelativeResize="0"/>
          <p:nvPr/>
        </p:nvPicPr>
        <p:blipFill rotWithShape="1">
          <a:blip r:embed="rId5">
            <a:alphaModFix/>
          </a:blip>
          <a:srcRect b="1067" l="5793" r="2829" t="0"/>
          <a:stretch/>
        </p:blipFill>
        <p:spPr>
          <a:xfrm>
            <a:off x="1865368" y="2025224"/>
            <a:ext cx="2517667" cy="363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814" name="Google Shape;8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28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6" name="Google Shape;81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28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8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Estratégias de Calibração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9" name="Google Shape;819;p28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0" name="Google Shape;820;p28"/>
          <p:cNvSpPr/>
          <p:nvPr/>
        </p:nvSpPr>
        <p:spPr>
          <a:xfrm>
            <a:off x="502920" y="1554480"/>
            <a:ext cx="361188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8"/>
          <p:cNvSpPr/>
          <p:nvPr/>
        </p:nvSpPr>
        <p:spPr>
          <a:xfrm>
            <a:off x="685800" y="1719072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2" name="Google Shape;82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361" y="181563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28"/>
          <p:cNvSpPr/>
          <p:nvPr/>
        </p:nvSpPr>
        <p:spPr>
          <a:xfrm>
            <a:off x="3204058" y="1737360"/>
            <a:ext cx="773582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8"/>
          <p:cNvSpPr/>
          <p:nvPr/>
        </p:nvSpPr>
        <p:spPr>
          <a:xfrm>
            <a:off x="3204058" y="1737360"/>
            <a:ext cx="7735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ADOTADA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685800" y="22402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Adotada: tampa + RANSAC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8"/>
          <p:cNvSpPr/>
          <p:nvPr/>
        </p:nvSpPr>
        <p:spPr>
          <a:xfrm>
            <a:off x="685800" y="256032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Tampa rígida e plana cobre a mesa; RANSAC isola os pontos da tampa e SVD refina o plano — dispensa esvaziar a areia a cada calibração.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4297680" y="1554480"/>
            <a:ext cx="361188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8"/>
          <p:cNvSpPr/>
          <p:nvPr/>
        </p:nvSpPr>
        <p:spPr>
          <a:xfrm>
            <a:off x="4480560" y="1719072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9" name="Google Shape;82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7121" y="181563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28"/>
          <p:cNvSpPr/>
          <p:nvPr/>
        </p:nvSpPr>
        <p:spPr>
          <a:xfrm>
            <a:off x="6550762" y="1737360"/>
            <a:ext cx="1221638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6550762" y="1737360"/>
            <a:ext cx="12216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8"/>
          <p:cNvSpPr/>
          <p:nvPr/>
        </p:nvSpPr>
        <p:spPr>
          <a:xfrm>
            <a:off x="4480560" y="22402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Salvar a calibração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8"/>
          <p:cNvSpPr/>
          <p:nvPr/>
        </p:nvSpPr>
        <p:spPr>
          <a:xfrm>
            <a:off x="4480560" y="256032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T_final (4×4) é persistida em calibration_data.json, evitando recalibrar a cada execução — carregamento automático na inicialização.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8"/>
          <p:cNvSpPr/>
          <p:nvPr/>
        </p:nvSpPr>
        <p:spPr>
          <a:xfrm>
            <a:off x="8092440" y="1554480"/>
            <a:ext cx="361188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8"/>
          <p:cNvSpPr/>
          <p:nvPr/>
        </p:nvSpPr>
        <p:spPr>
          <a:xfrm>
            <a:off x="8275320" y="1719072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6" name="Google Shape;83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71881" y="1815633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28"/>
          <p:cNvSpPr/>
          <p:nvPr/>
        </p:nvSpPr>
        <p:spPr>
          <a:xfrm>
            <a:off x="10345522" y="1737360"/>
            <a:ext cx="1221638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10345522" y="1737360"/>
            <a:ext cx="12216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8"/>
          <p:cNvSpPr/>
          <p:nvPr/>
        </p:nvSpPr>
        <p:spPr>
          <a:xfrm>
            <a:off x="8275320" y="224028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Frequência de calibração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8275320" y="2560320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Recalibra-se apenas ao reposicionar fisicamente o sensor — não a cada sessão de uso, graças ao cache JSON.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502920" y="3813048"/>
            <a:ext cx="361188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8"/>
          <p:cNvSpPr/>
          <p:nvPr/>
        </p:nvSpPr>
        <p:spPr>
          <a:xfrm>
            <a:off x="685800" y="397764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3" name="Google Shape;84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2361" y="4074201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28"/>
          <p:cNvSpPr/>
          <p:nvPr/>
        </p:nvSpPr>
        <p:spPr>
          <a:xfrm>
            <a:off x="3114446" y="3995928"/>
            <a:ext cx="863194" cy="274320"/>
          </a:xfrm>
          <a:prstGeom prst="roundRect">
            <a:avLst>
              <a:gd fmla="val 20000" name="adj"/>
            </a:avLst>
          </a:prstGeom>
          <a:solidFill>
            <a:srgbClr val="5B647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3114446" y="3995928"/>
            <a:ext cx="8631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8"/>
          <p:cNvSpPr/>
          <p:nvPr/>
        </p:nvSpPr>
        <p:spPr>
          <a:xfrm>
            <a:off x="685800" y="44988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Alternativa: bordas da mesa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8"/>
          <p:cNvSpPr/>
          <p:nvPr/>
        </p:nvSpPr>
        <p:spPr>
          <a:xfrm>
            <a:off x="685800" y="481888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Usar as bordas físicas como pontos de calibração foi avaliada; o método da tampa se mostrou mais robusto a outliers.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8"/>
          <p:cNvSpPr/>
          <p:nvPr/>
        </p:nvSpPr>
        <p:spPr>
          <a:xfrm>
            <a:off x="4297680" y="3813048"/>
            <a:ext cx="361188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4480560" y="397764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0" name="Google Shape;85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7121" y="4074201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28"/>
          <p:cNvSpPr/>
          <p:nvPr/>
        </p:nvSpPr>
        <p:spPr>
          <a:xfrm>
            <a:off x="6909206" y="3995928"/>
            <a:ext cx="863194" cy="274320"/>
          </a:xfrm>
          <a:prstGeom prst="roundRect">
            <a:avLst>
              <a:gd fmla="val 20000" name="adj"/>
            </a:avLst>
          </a:prstGeom>
          <a:solidFill>
            <a:srgbClr val="5B647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8"/>
          <p:cNvSpPr/>
          <p:nvPr/>
        </p:nvSpPr>
        <p:spPr>
          <a:xfrm>
            <a:off x="6909206" y="3995928"/>
            <a:ext cx="8631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AVALIADA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4480560" y="44988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Alternativa: tábua como gabarito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8"/>
          <p:cNvSpPr/>
          <p:nvPr/>
        </p:nvSpPr>
        <p:spPr>
          <a:xfrm>
            <a:off x="4480560" y="481888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Uma tábua plana também serviria como referência; a tampa integrada ao caixão novo cumpre o mesmo papel de forma mais prática.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8092440" y="3813048"/>
            <a:ext cx="361188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8"/>
          <p:cNvSpPr/>
          <p:nvPr/>
        </p:nvSpPr>
        <p:spPr>
          <a:xfrm>
            <a:off x="8275320" y="397764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7" name="Google Shape;857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71881" y="4074201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28"/>
          <p:cNvSpPr/>
          <p:nvPr/>
        </p:nvSpPr>
        <p:spPr>
          <a:xfrm>
            <a:off x="10703966" y="3995928"/>
            <a:ext cx="863194" cy="27432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8"/>
          <p:cNvSpPr/>
          <p:nvPr/>
        </p:nvSpPr>
        <p:spPr>
          <a:xfrm>
            <a:off x="10703966" y="3995928"/>
            <a:ext cx="86319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8275320" y="4498848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80"/>
              <a:buFont typeface="Calibri"/>
              <a:buNone/>
            </a:pPr>
            <a:r>
              <a:rPr b="1" lang="en-US" sz="118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Próximo desafio: recalibração</a:t>
            </a:r>
            <a:endParaRPr sz="11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8275320" y="481888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Ao migrar para o novo caixão, a calibração da tampa deve ser refeita com a nova geometria de montagem (ver Roadmap).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869" name="Google Shape;8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29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1" name="Google Shape;8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29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Estado Atual do Sistema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4" name="Google Shape;874;p29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p29"/>
          <p:cNvSpPr/>
          <p:nvPr/>
        </p:nvSpPr>
        <p:spPr>
          <a:xfrm>
            <a:off x="502920" y="13716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Verificação de Curso (VC) — Julho 2026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6" name="Google Shape;876;p29"/>
          <p:cNvGraphicFramePr/>
          <p:nvPr/>
        </p:nvGraphicFramePr>
        <p:xfrm>
          <a:off x="50292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{4FEFE115-BF3D-4877-94DE-6E91CD921312}</a:tableStyleId>
              </a:tblPr>
              <a:tblGrid>
                <a:gridCol w="3840475"/>
                <a:gridCol w="1737350"/>
                <a:gridCol w="5577850"/>
              </a:tblGrid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Observação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A6B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Motor Matemático (Python)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RANSAC · SVD · Gram-Schmidt · Tsai · Grade 30×30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Otimização de Desempenho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2,57× mais rápido · sem GPU · 17,7 ms/frame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Suíte de Testes (TDD)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 testes — 58 aprovados · 1 ignorado (Open3D)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Interface Gráfica (GUI)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CustomTkinter · abas · validação em tempo real · perfis JSON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Emulador / Pá Virtual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Modo simulação interativo — demonstrável sem hardware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Adaptação do Kinect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791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B7791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Funcional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Calibração da tampa · RANSAC · cache JSON · fallback em cascata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 Projetor / Estrutura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Concluído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Validado via espelho refletor no caixão antigo · cores em tempo real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A"/>
                    </a:solidFill>
                  </a:tcPr>
                </a:tc>
              </a:tr>
              <a:tr h="448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Caixão Definitivo (Marcenaria)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Concluído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0"/>
                        <a:buFont typeface="Calibri"/>
                        <a:buNone/>
                      </a:pPr>
                      <a:r>
                        <a:rPr lang="en-US" sz="103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Novo caixão construído sob medida — pronto para integração final</a:t>
                      </a:r>
                      <a:endParaRPr sz="103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7" name="Google Shape;877;p2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9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884" name="Google Shape;8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4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3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6" name="Google Shape;8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30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0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Desafios Técnicos em Aberto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9" name="Google Shape;889;p30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30"/>
          <p:cNvSpPr/>
          <p:nvPr/>
        </p:nvSpPr>
        <p:spPr>
          <a:xfrm>
            <a:off x="502920" y="137160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 que falta e o que foi resolvido desde a VE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502920" y="1737360"/>
            <a:ext cx="1115568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0"/>
          <p:cNvSpPr/>
          <p:nvPr/>
        </p:nvSpPr>
        <p:spPr>
          <a:xfrm>
            <a:off x="713232" y="1993392"/>
            <a:ext cx="566928" cy="56692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3" name="Google Shape;8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295" y="212945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30"/>
          <p:cNvSpPr/>
          <p:nvPr/>
        </p:nvSpPr>
        <p:spPr>
          <a:xfrm>
            <a:off x="1463040" y="18653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Fixação Física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1463040" y="2240280"/>
            <a:ext cx="1221638" cy="274320"/>
          </a:xfrm>
          <a:prstGeom prst="roundRect">
            <a:avLst>
              <a:gd fmla="val 20000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1463040" y="2240280"/>
            <a:ext cx="12216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PROGRESSO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5623560" y="1847088"/>
            <a:ext cx="585216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Espelho refletor validou a integração projetor + Kinect no caixão antigo. Novo caixão em marcenaria construído — pronto para fixação definitiva. Próximo passo: migrar e fixar tudo na nova estrutura para a VF.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0"/>
          <p:cNvSpPr/>
          <p:nvPr/>
        </p:nvSpPr>
        <p:spPr>
          <a:xfrm>
            <a:off x="502920" y="2880360"/>
            <a:ext cx="1115568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713232" y="3136392"/>
            <a:ext cx="566928" cy="566928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0" name="Google Shape;9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295" y="327245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30"/>
          <p:cNvSpPr/>
          <p:nvPr/>
        </p:nvSpPr>
        <p:spPr>
          <a:xfrm>
            <a:off x="1463040" y="30083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Projeção Real sobre Areia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0"/>
          <p:cNvSpPr/>
          <p:nvPr/>
        </p:nvSpPr>
        <p:spPr>
          <a:xfrm>
            <a:off x="1463040" y="3383280"/>
            <a:ext cx="1221638" cy="274320"/>
          </a:xfrm>
          <a:prstGeom prst="roundRect">
            <a:avLst>
              <a:gd fmla="val 20000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0"/>
          <p:cNvSpPr/>
          <p:nvPr/>
        </p:nvSpPr>
        <p:spPr>
          <a:xfrm>
            <a:off x="1463040" y="3383280"/>
            <a:ext cx="12216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PROGRESSO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0"/>
          <p:cNvSpPr/>
          <p:nvPr/>
        </p:nvSpPr>
        <p:spPr>
          <a:xfrm>
            <a:off x="5623560" y="2990088"/>
            <a:ext cx="585216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Projeção colorida validada com espelho no caixão antigo. Cores vermelho/azul/verde respondendo em tempo real ao Kinect. Pendente: recalibrar na nova estrutura definitiva do caixão.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0"/>
          <p:cNvSpPr/>
          <p:nvPr/>
        </p:nvSpPr>
        <p:spPr>
          <a:xfrm>
            <a:off x="502920" y="4023360"/>
            <a:ext cx="1115568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0"/>
          <p:cNvSpPr/>
          <p:nvPr/>
        </p:nvSpPr>
        <p:spPr>
          <a:xfrm>
            <a:off x="713232" y="4279392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7" name="Google Shape;90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295" y="441545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30"/>
          <p:cNvSpPr/>
          <p:nvPr/>
        </p:nvSpPr>
        <p:spPr>
          <a:xfrm>
            <a:off x="1463040" y="41513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MDE Cartográfico Real (GeoTIFF AMAN)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0"/>
          <p:cNvSpPr/>
          <p:nvPr/>
        </p:nvSpPr>
        <p:spPr>
          <a:xfrm>
            <a:off x="1463040" y="4526280"/>
            <a:ext cx="863194" cy="274320"/>
          </a:xfrm>
          <a:prstGeom prst="roundRect">
            <a:avLst>
              <a:gd fmla="val 20000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REALIZADO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5623560" y="4133088"/>
            <a:ext cx="585216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Arquivo do levantamento da AMAN ainda não disponível. Sistema 100% pronto para receber o GeoTIFF (AdaptadorMDE). Fallback sintético (Cubo Central) funciona em demonstrações.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0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0"/>
          <p:cNvSpPr/>
          <p:nvPr/>
        </p:nvSpPr>
        <p:spPr>
          <a:xfrm>
            <a:off x="713232" y="5422392"/>
            <a:ext cx="566928" cy="566928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3" name="Google Shape;91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295" y="5558455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30"/>
          <p:cNvSpPr/>
          <p:nvPr/>
        </p:nvSpPr>
        <p:spPr>
          <a:xfrm>
            <a:off x="1463040" y="5294376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Calibração Final na Nova Estrutura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1463040" y="5669280"/>
            <a:ext cx="1311250" cy="27432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0"/>
          <p:cNvSpPr/>
          <p:nvPr/>
        </p:nvSpPr>
        <p:spPr>
          <a:xfrm>
            <a:off x="1463040" y="5669280"/>
            <a:ext cx="131125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PENDENTE (VF)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0"/>
          <p:cNvSpPr/>
          <p:nvPr/>
        </p:nvSpPr>
        <p:spPr>
          <a:xfrm>
            <a:off x="5623560" y="5276088"/>
            <a:ext cx="5852160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Kinect e projetor ainda não fixados definitivamente. Calibração da tampa deve ser repetida após fixação final, com os parâmetros de Tsai recalculados para a nova geometria.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0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0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925" name="Google Shape;9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1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7" name="Google Shape;9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31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ELETRÔNICA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1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Roadmap do Hardware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0" name="Google Shape;930;p31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1" name="Google Shape;931;p31"/>
          <p:cNvSpPr/>
          <p:nvPr/>
        </p:nvSpPr>
        <p:spPr>
          <a:xfrm>
            <a:off x="502920" y="137160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VE → VC (atual) → VF — evolução da estrutura física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1"/>
          <p:cNvSpPr/>
          <p:nvPr/>
        </p:nvSpPr>
        <p:spPr>
          <a:xfrm>
            <a:off x="502920" y="1920240"/>
            <a:ext cx="3611880" cy="42976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1"/>
          <p:cNvSpPr/>
          <p:nvPr/>
        </p:nvSpPr>
        <p:spPr>
          <a:xfrm>
            <a:off x="502920" y="1920240"/>
            <a:ext cx="3611880" cy="7772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1"/>
          <p:cNvSpPr/>
          <p:nvPr/>
        </p:nvSpPr>
        <p:spPr>
          <a:xfrm>
            <a:off x="502920" y="1993392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1"/>
          <p:cNvSpPr/>
          <p:nvPr/>
        </p:nvSpPr>
        <p:spPr>
          <a:xfrm>
            <a:off x="502920" y="23957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Verificação Especial · Jun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1"/>
          <p:cNvSpPr/>
          <p:nvPr/>
        </p:nvSpPr>
        <p:spPr>
          <a:xfrm>
            <a:off x="731520" y="2880360"/>
            <a:ext cx="31546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Motor matemático funcional (Python)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Emulador interativo (pá virtual)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Suíte de 59 testes automatizados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GUI CustomTkinter implementada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Kinect integrado em modo de teste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1"/>
          <p:cNvSpPr/>
          <p:nvPr/>
        </p:nvSpPr>
        <p:spPr>
          <a:xfrm>
            <a:off x="4297680" y="1920240"/>
            <a:ext cx="3611880" cy="4297680"/>
          </a:xfrm>
          <a:prstGeom prst="roundRect">
            <a:avLst>
              <a:gd fmla="val 2025" name="adj"/>
            </a:avLst>
          </a:prstGeom>
          <a:solidFill>
            <a:srgbClr val="FFF7E2"/>
          </a:solidFill>
          <a:ln cap="flat" cmpd="sng" w="203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1"/>
          <p:cNvSpPr/>
          <p:nvPr/>
        </p:nvSpPr>
        <p:spPr>
          <a:xfrm>
            <a:off x="4297680" y="1920240"/>
            <a:ext cx="3611880" cy="777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1"/>
          <p:cNvSpPr/>
          <p:nvPr/>
        </p:nvSpPr>
        <p:spPr>
          <a:xfrm>
            <a:off x="4297680" y="1993392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1"/>
          <p:cNvSpPr/>
          <p:nvPr/>
        </p:nvSpPr>
        <p:spPr>
          <a:xfrm>
            <a:off x="4297680" y="23957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Verificação de Curso · Ago–Set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1"/>
          <p:cNvSpPr/>
          <p:nvPr/>
        </p:nvSpPr>
        <p:spPr>
          <a:xfrm>
            <a:off x="5719572" y="1773936"/>
            <a:ext cx="594360" cy="274320"/>
          </a:xfrm>
          <a:prstGeom prst="roundRect">
            <a:avLst>
              <a:gd fmla="val 2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5719572" y="1773936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4526280" y="2880360"/>
            <a:ext cx="31546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✓ Projeção validada via espelho refletor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✓ Kinect + projetor simultâneos (cores V/A/V)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✓ Novo caixão em marcenaria construído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⏳ Migração para o caixão novo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⏳ Calibração final na nova estrutura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1"/>
          <p:cNvSpPr/>
          <p:nvPr/>
        </p:nvSpPr>
        <p:spPr>
          <a:xfrm>
            <a:off x="8092440" y="1920240"/>
            <a:ext cx="3611880" cy="429768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1"/>
          <p:cNvSpPr/>
          <p:nvPr/>
        </p:nvSpPr>
        <p:spPr>
          <a:xfrm>
            <a:off x="8092440" y="1920240"/>
            <a:ext cx="3611880" cy="777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1"/>
          <p:cNvSpPr/>
          <p:nvPr/>
        </p:nvSpPr>
        <p:spPr>
          <a:xfrm>
            <a:off x="8092440" y="1993392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VF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1"/>
          <p:cNvSpPr/>
          <p:nvPr/>
        </p:nvSpPr>
        <p:spPr>
          <a:xfrm>
            <a:off x="8092440" y="239572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Verificação Final · Nov–Dez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1"/>
          <p:cNvSpPr/>
          <p:nvPr/>
        </p:nvSpPr>
        <p:spPr>
          <a:xfrm>
            <a:off x="8321040" y="2880360"/>
            <a:ext cx="31546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Sistema 100% integrado no caixão definitivo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MDE real (GeoTIFF AMAN) integrado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Calibração final validada em campo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Entrega à Seção de Simulação da AMAN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2430"/>
              </a:buClr>
              <a:buSzPts val="1530"/>
              <a:buFont typeface="Calibri"/>
              <a:buChar char="–"/>
            </a:pPr>
            <a:r>
              <a:rPr lang="en-US" sz="153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Documentação de transferência completa</a:t>
            </a:r>
            <a:endParaRPr sz="15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1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40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dark.png" id="956" name="Google Shape;9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32"/>
          <p:cNvSpPr/>
          <p:nvPr/>
        </p:nvSpPr>
        <p:spPr>
          <a:xfrm>
            <a:off x="914400" y="2331720"/>
            <a:ext cx="1051560" cy="105156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8" name="Google Shape;9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774" y="2584094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32"/>
          <p:cNvSpPr/>
          <p:nvPr/>
        </p:nvSpPr>
        <p:spPr>
          <a:xfrm>
            <a:off x="2148840" y="239572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8C766"/>
                </a:solidFill>
                <a:latin typeface="Calibri"/>
                <a:ea typeface="Calibri"/>
                <a:cs typeface="Calibri"/>
                <a:sym typeface="Calibri"/>
              </a:rPr>
              <a:t>PARTE 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2"/>
          <p:cNvSpPr/>
          <p:nvPr/>
        </p:nvSpPr>
        <p:spPr>
          <a:xfrm>
            <a:off x="2148840" y="2743200"/>
            <a:ext cx="8869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lang="en-US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Engenharia Cartográfica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2"/>
          <p:cNvSpPr/>
          <p:nvPr/>
        </p:nvSpPr>
        <p:spPr>
          <a:xfrm>
            <a:off x="2148840" y="3794760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Do dado oficial das cartas topográficas à geração do Modelo Digital de Elevação (MDE) de referência.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968" name="Google Shape;9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26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0" name="Google Shape;9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26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</a:t>
            </a: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6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Novo Caixão de Areia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3" name="Google Shape;973;p26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4" name="Google Shape;974;p26"/>
          <p:cNvSpPr/>
          <p:nvPr/>
        </p:nvSpPr>
        <p:spPr>
          <a:xfrm>
            <a:off x="10378440" y="457200"/>
            <a:ext cx="683971" cy="274320"/>
          </a:xfrm>
          <a:prstGeom prst="roundRect">
            <a:avLst>
              <a:gd fmla="val 2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6"/>
          <p:cNvSpPr/>
          <p:nvPr/>
        </p:nvSpPr>
        <p:spPr>
          <a:xfrm>
            <a:off x="10378440" y="457200"/>
            <a:ext cx="68397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NOVO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6"/>
          <p:cNvSpPr/>
          <p:nvPr/>
        </p:nvSpPr>
        <p:spPr>
          <a:xfrm>
            <a:off x="502920" y="2924866"/>
            <a:ext cx="342900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6"/>
          <p:cNvSpPr/>
          <p:nvPr/>
        </p:nvSpPr>
        <p:spPr>
          <a:xfrm>
            <a:off x="667512" y="3080832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8" name="Google Shape;97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1905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26"/>
          <p:cNvSpPr/>
          <p:nvPr/>
        </p:nvSpPr>
        <p:spPr>
          <a:xfrm>
            <a:off x="1234440" y="3062544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1. Caixão Antigo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6"/>
          <p:cNvSpPr/>
          <p:nvPr/>
        </p:nvSpPr>
        <p:spPr>
          <a:xfrm>
            <a:off x="1234440" y="332772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Protótipo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6"/>
          <p:cNvSpPr/>
          <p:nvPr/>
        </p:nvSpPr>
        <p:spPr>
          <a:xfrm>
            <a:off x="667512" y="3693480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15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Reutilizado de prateleira comercial. Validou o motor matemático e a integração eletrônica inicial.</a:t>
            </a:r>
            <a:endParaRPr sz="15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2" name="Google Shape;98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86784" y="3698052"/>
            <a:ext cx="201168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26"/>
          <p:cNvSpPr/>
          <p:nvPr/>
        </p:nvSpPr>
        <p:spPr>
          <a:xfrm>
            <a:off x="4251960" y="2916240"/>
            <a:ext cx="3429000" cy="1783080"/>
          </a:xfrm>
          <a:prstGeom prst="roundRect">
            <a:avLst>
              <a:gd fmla="val 4103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6"/>
          <p:cNvSpPr/>
          <p:nvPr/>
        </p:nvSpPr>
        <p:spPr>
          <a:xfrm>
            <a:off x="4416552" y="3080832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5" name="Google Shape;98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6280" y="31905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26"/>
          <p:cNvSpPr/>
          <p:nvPr/>
        </p:nvSpPr>
        <p:spPr>
          <a:xfrm>
            <a:off x="4983480" y="3062544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2. Espelho + Projetor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6"/>
          <p:cNvSpPr/>
          <p:nvPr/>
        </p:nvSpPr>
        <p:spPr>
          <a:xfrm>
            <a:off x="4983480" y="332772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26"/>
          <p:cNvSpPr/>
          <p:nvPr/>
        </p:nvSpPr>
        <p:spPr>
          <a:xfrm>
            <a:off x="4416552" y="3693480"/>
            <a:ext cx="3099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15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Solução provisória confirmou a viabilidade do caminho óptico.</a:t>
            </a:r>
            <a:endParaRPr sz="15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9" name="Google Shape;98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5824" y="3698052"/>
            <a:ext cx="201168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26"/>
          <p:cNvSpPr/>
          <p:nvPr/>
        </p:nvSpPr>
        <p:spPr>
          <a:xfrm>
            <a:off x="8001000" y="2916240"/>
            <a:ext cx="3429000" cy="1783080"/>
          </a:xfrm>
          <a:prstGeom prst="roundRect">
            <a:avLst>
              <a:gd fmla="val 4103" name="adj"/>
            </a:avLst>
          </a:prstGeom>
          <a:solidFill>
            <a:srgbClr val="FFF7E2"/>
          </a:solidFill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3A6B">
                <a:alpha val="705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6"/>
          <p:cNvSpPr/>
          <p:nvPr/>
        </p:nvSpPr>
        <p:spPr>
          <a:xfrm>
            <a:off x="8165592" y="3080832"/>
            <a:ext cx="457200" cy="4572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2" name="Google Shape;99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5320" y="319056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26"/>
          <p:cNvSpPr/>
          <p:nvPr/>
        </p:nvSpPr>
        <p:spPr>
          <a:xfrm>
            <a:off x="8732520" y="3062544"/>
            <a:ext cx="2532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Caixão Novo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6"/>
          <p:cNvSpPr/>
          <p:nvPr/>
        </p:nvSpPr>
        <p:spPr>
          <a:xfrm>
            <a:off x="8732520" y="332772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791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7791F"/>
                </a:solidFill>
                <a:latin typeface="Calibri"/>
                <a:ea typeface="Calibri"/>
                <a:cs typeface="Calibri"/>
                <a:sym typeface="Calibri"/>
              </a:rPr>
              <a:t>Marcenaria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8165592" y="3693480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980"/>
              <a:buFont typeface="Calibri"/>
              <a:buNone/>
            </a:pPr>
            <a:r>
              <a:rPr lang="en-US" sz="158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Construído sob medida, com suporte fixo e estável para Kinect e projetor.</a:t>
            </a:r>
            <a:endParaRPr sz="15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6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003" name="Google Shape;10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2" y="-4313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27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5" name="Google Shape;10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27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</a:t>
            </a: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7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Novo Caixão de Areia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8" name="Google Shape;1008;p27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9" name="Google Shape;1009;p27"/>
          <p:cNvSpPr/>
          <p:nvPr/>
        </p:nvSpPr>
        <p:spPr>
          <a:xfrm>
            <a:off x="10378440" y="457200"/>
            <a:ext cx="683971" cy="274320"/>
          </a:xfrm>
          <a:prstGeom prst="roundRect">
            <a:avLst>
              <a:gd fmla="val 20000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7"/>
          <p:cNvSpPr/>
          <p:nvPr/>
        </p:nvSpPr>
        <p:spPr>
          <a:xfrm>
            <a:off x="10378440" y="457200"/>
            <a:ext cx="68397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 NOVO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27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Estrutura definitiva, construída sob medida, para a versão final do hardware.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2" name="Google Shape;10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2148840"/>
            <a:ext cx="237744" cy="237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3" name="Google Shape;101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14884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27"/>
          <p:cNvSpPr/>
          <p:nvPr/>
        </p:nvSpPr>
        <p:spPr>
          <a:xfrm>
            <a:off x="5767667" y="1961387"/>
            <a:ext cx="5559552" cy="1879431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7"/>
          <p:cNvSpPr/>
          <p:nvPr/>
        </p:nvSpPr>
        <p:spPr>
          <a:xfrm>
            <a:off x="5996267" y="2144268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Especificações do novo caixão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7"/>
          <p:cNvSpPr/>
          <p:nvPr/>
        </p:nvSpPr>
        <p:spPr>
          <a:xfrm>
            <a:off x="5996267" y="2528316"/>
            <a:ext cx="49834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Construído com dimensões exatas: 1,18 m × 0,6 m × 0,20 m de profundidade.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Suporte integrado para o Kinect a 1,18 m de altura, e para o projetor — fixo e estável.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Resolve o desafio de “Fixação Física” listado nos Desafios em Aberto.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7"/>
          <p:cNvSpPr/>
          <p:nvPr/>
        </p:nvSpPr>
        <p:spPr>
          <a:xfrm>
            <a:off x="5802389" y="4082967"/>
            <a:ext cx="5559552" cy="2185413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 cap="flat" cmpd="sng" w="17775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7"/>
          <p:cNvSpPr/>
          <p:nvPr/>
        </p:nvSpPr>
        <p:spPr>
          <a:xfrm>
            <a:off x="6030989" y="4265848"/>
            <a:ext cx="4983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Próximo passo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7"/>
          <p:cNvSpPr/>
          <p:nvPr/>
        </p:nvSpPr>
        <p:spPr>
          <a:xfrm>
            <a:off x="6030989" y="4649896"/>
            <a:ext cx="49834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Migrar a solução validada para o novo caixão.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Fixar definitivamente o Kinect e o sistema de projeção na nova estrutura.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Realizar calibração final com a tampa nas dimensões corretas, e entregar o produto acabado à Seç Sml da AMAN.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7"/>
          <p:cNvSpPr/>
          <p:nvPr/>
        </p:nvSpPr>
        <p:spPr>
          <a:xfrm>
            <a:off x="731520" y="5937467"/>
            <a:ext cx="4983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FONTE: Autor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27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7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3" name="Google Shape;1023;p27"/>
          <p:cNvPicPr preferRelativeResize="0"/>
          <p:nvPr/>
        </p:nvPicPr>
        <p:blipFill rotWithShape="1">
          <a:blip r:embed="rId7">
            <a:alphaModFix/>
          </a:blip>
          <a:srcRect b="19394" l="20625" r="22486" t="11593"/>
          <a:stretch/>
        </p:blipFill>
        <p:spPr>
          <a:xfrm>
            <a:off x="716389" y="1985348"/>
            <a:ext cx="1677788" cy="371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20230" y="2002960"/>
            <a:ext cx="2080580" cy="37314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030" name="Google Shape;103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35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2" name="Google Shape;103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35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5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Meios de aquisição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5" name="Google Shape;1035;p35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6" name="Google Shape;1036;p35"/>
          <p:cNvSpPr/>
          <p:nvPr/>
        </p:nvSpPr>
        <p:spPr>
          <a:xfrm>
            <a:off x="502920" y="1737360"/>
            <a:ext cx="694944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5"/>
          <p:cNvSpPr/>
          <p:nvPr/>
        </p:nvSpPr>
        <p:spPr>
          <a:xfrm>
            <a:off x="731520" y="1920240"/>
            <a:ext cx="6492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5"/>
          <p:cNvSpPr/>
          <p:nvPr/>
        </p:nvSpPr>
        <p:spPr>
          <a:xfrm>
            <a:off x="731520" y="2304288"/>
            <a:ext cx="6492240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5925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BDGEX</a:t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Dados vetoriais</a:t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SRTM/ASTER, outros</a:t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Planejamos o uso do BDGEX como meio principal de aplicação dos dados espaciais no caixão de areia.</a:t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fc_deck/extracted_images/p31_i1.png" id="1039" name="Google Shape;103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5320" y="1600200"/>
            <a:ext cx="3200400" cy="4526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35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5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047" name="Google Shape;10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3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9" name="Google Shape;104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34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4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BDGEX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2" name="Google Shape;1052;p34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3" name="Google Shape;1053;p34"/>
          <p:cNvSpPr/>
          <p:nvPr/>
        </p:nvSpPr>
        <p:spPr>
          <a:xfrm>
            <a:off x="502920" y="1737360"/>
            <a:ext cx="658368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4"/>
          <p:cNvSpPr/>
          <p:nvPr/>
        </p:nvSpPr>
        <p:spPr>
          <a:xfrm>
            <a:off x="731525" y="2090240"/>
            <a:ext cx="6126600" cy="3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5925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Disponibilidade no BDGEx (Banco de Dados Geográficos do Exército).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Utilização do MDE disponível ou parte dele de acordo com a área de interesse.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fc_deck/extracted_images/p30_i1.png" id="1055" name="Google Shape;105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9520" y="2286000"/>
            <a:ext cx="3840480" cy="3364992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34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34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063" name="Google Shape;10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33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5" name="Google Shape;10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33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33"/>
          <p:cNvSpPr/>
          <p:nvPr/>
        </p:nvSpPr>
        <p:spPr>
          <a:xfrm>
            <a:off x="1234440" y="621792"/>
            <a:ext cx="1033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Dados Vetorias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33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9" name="Google Shape;1069;p33"/>
          <p:cNvSpPr/>
          <p:nvPr/>
        </p:nvSpPr>
        <p:spPr>
          <a:xfrm>
            <a:off x="502920" y="1737360"/>
            <a:ext cx="658368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33"/>
          <p:cNvSpPr/>
          <p:nvPr/>
        </p:nvSpPr>
        <p:spPr>
          <a:xfrm>
            <a:off x="731463" y="2131038"/>
            <a:ext cx="6126600" cy="3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5925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 geração do MDE; com a seleção das cartas topográficas da área de interesse</a:t>
            </a: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As curvas de nível são extraídas da carta em formato vetorial, geralmente como arquivo Shapefile.</a:t>
            </a:r>
            <a:endParaRPr sz="2400">
              <a:solidFill>
                <a:srgbClr val="1A24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5925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2400"/>
              <a:buFont typeface="Calibri"/>
              <a:buChar char="–"/>
            </a:pPr>
            <a:r>
              <a:rPr lang="en-US" sz="240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As cartas utilizadas são as oficiais do Exército Brasileiro, garantindo compatibilidade com o material já usado na instrução da AMAN.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fc_deck/extracted_images/p29_i1.png" id="1071" name="Google Shape;107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0920" y="1737360"/>
            <a:ext cx="429768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33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3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079" name="Google Shape;1079;g3f6b7aa8777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g3f6b7aa8777_0_18"/>
          <p:cNvSpPr/>
          <p:nvPr/>
        </p:nvSpPr>
        <p:spPr>
          <a:xfrm>
            <a:off x="502920" y="411480"/>
            <a:ext cx="567000" cy="567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1" name="Google Shape;1081;g3f6b7aa8777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g3f6b7aa8777_0_18"/>
          <p:cNvSpPr/>
          <p:nvPr/>
        </p:nvSpPr>
        <p:spPr>
          <a:xfrm>
            <a:off x="1234440" y="384048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g3f6b7aa8777_0_18"/>
          <p:cNvSpPr/>
          <p:nvPr/>
        </p:nvSpPr>
        <p:spPr>
          <a:xfrm>
            <a:off x="1234440" y="621792"/>
            <a:ext cx="1033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Outros Meios de Aquisição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4" name="Google Shape;1084;g3f6b7aa8777_0_18"/>
          <p:cNvCxnSpPr/>
          <p:nvPr/>
        </p:nvCxnSpPr>
        <p:spPr>
          <a:xfrm>
            <a:off x="502920" y="1298448"/>
            <a:ext cx="1118310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g3f6b7aa8777_0_18"/>
          <p:cNvSpPr/>
          <p:nvPr/>
        </p:nvSpPr>
        <p:spPr>
          <a:xfrm>
            <a:off x="502920" y="1737360"/>
            <a:ext cx="6583800" cy="42063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g3f6b7aa8777_0_18"/>
          <p:cNvSpPr/>
          <p:nvPr/>
        </p:nvSpPr>
        <p:spPr>
          <a:xfrm>
            <a:off x="731520" y="1920240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g3f6b7aa8777_0_18"/>
          <p:cNvSpPr/>
          <p:nvPr/>
        </p:nvSpPr>
        <p:spPr>
          <a:xfrm>
            <a:off x="731520" y="2304288"/>
            <a:ext cx="61266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SRTM/ ASTER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Operacionalidade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fc_deck/extracted_images/p32_i1.png" id="1088" name="Google Shape;1088;g3f6b7aa8777_0_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2360" y="2377440"/>
            <a:ext cx="4206241" cy="276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g3f6b7aa8777_0_18"/>
          <p:cNvSpPr/>
          <p:nvPr/>
        </p:nvSpPr>
        <p:spPr>
          <a:xfrm>
            <a:off x="7452360" y="2377440"/>
            <a:ext cx="4206300" cy="276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g3f6b7aa8777_0_18"/>
          <p:cNvSpPr/>
          <p:nvPr/>
        </p:nvSpPr>
        <p:spPr>
          <a:xfrm>
            <a:off x="502920" y="651052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g3f6b7aa8777_0_18"/>
          <p:cNvSpPr/>
          <p:nvPr/>
        </p:nvSpPr>
        <p:spPr>
          <a:xfrm>
            <a:off x="11658600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097" name="Google Shape;10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36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9" name="Google Shape;10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36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6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Interação gráfica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2" name="Google Shape;1102;p36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3" name="Google Shape;1103;p36"/>
          <p:cNvSpPr/>
          <p:nvPr/>
        </p:nvSpPr>
        <p:spPr>
          <a:xfrm>
            <a:off x="502920" y="1737360"/>
            <a:ext cx="658368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6"/>
          <p:cNvSpPr/>
          <p:nvPr/>
        </p:nvSpPr>
        <p:spPr>
          <a:xfrm>
            <a:off x="731520" y="192024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6"/>
          <p:cNvSpPr/>
          <p:nvPr/>
        </p:nvSpPr>
        <p:spPr>
          <a:xfrm>
            <a:off x="731520" y="2304288"/>
            <a:ext cx="6126480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 da projeção no caixão de areia o operador poderá observar os terreno pelo computador de maneira interativa.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de hardware (AMAN).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fc_deck/extracted_images/p32_i1.png" id="1106" name="Google Shape;110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2360" y="2377440"/>
            <a:ext cx="4206240" cy="2761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36"/>
          <p:cNvSpPr/>
          <p:nvPr/>
        </p:nvSpPr>
        <p:spPr>
          <a:xfrm>
            <a:off x="7452360" y="2377440"/>
            <a:ext cx="4206240" cy="2761488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6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6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115" name="Google Shape;1115;g3f6b7aa877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g3f6b7aa8777_0_0"/>
          <p:cNvSpPr/>
          <p:nvPr/>
        </p:nvSpPr>
        <p:spPr>
          <a:xfrm>
            <a:off x="502920" y="411480"/>
            <a:ext cx="567000" cy="567000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7" name="Google Shape;1117;g3f6b7aa877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g3f6b7aa8777_0_0"/>
          <p:cNvSpPr/>
          <p:nvPr/>
        </p:nvSpPr>
        <p:spPr>
          <a:xfrm>
            <a:off x="1234440" y="384048"/>
            <a:ext cx="969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ENGENHARIA CARTOGRÁFICA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g3f6b7aa8777_0_0"/>
          <p:cNvSpPr/>
          <p:nvPr/>
        </p:nvSpPr>
        <p:spPr>
          <a:xfrm>
            <a:off x="1234440" y="621792"/>
            <a:ext cx="1033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Definição de altura máxima e mínima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0" name="Google Shape;1120;g3f6b7aa8777_0_0"/>
          <p:cNvCxnSpPr/>
          <p:nvPr/>
        </p:nvCxnSpPr>
        <p:spPr>
          <a:xfrm>
            <a:off x="502920" y="1298448"/>
            <a:ext cx="11183100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1" name="Google Shape;1121;g3f6b7aa8777_0_0"/>
          <p:cNvSpPr/>
          <p:nvPr/>
        </p:nvSpPr>
        <p:spPr>
          <a:xfrm>
            <a:off x="502920" y="1737360"/>
            <a:ext cx="6583800" cy="420630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g3f6b7aa8777_0_0"/>
          <p:cNvSpPr/>
          <p:nvPr/>
        </p:nvSpPr>
        <p:spPr>
          <a:xfrm>
            <a:off x="731520" y="1920240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g3f6b7aa8777_0_0"/>
          <p:cNvSpPr/>
          <p:nvPr/>
        </p:nvSpPr>
        <p:spPr>
          <a:xfrm>
            <a:off x="731520" y="2304288"/>
            <a:ext cx="61266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realizar uma projeção correspondente à realidade, sem alterar as proporções.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Alturas fixas para associar ao topo e base do caixão.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Viabilidade prática: altura do caixão de areia da AMAN (20cm).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g3f6b7aa8777_0_0"/>
          <p:cNvSpPr/>
          <p:nvPr/>
        </p:nvSpPr>
        <p:spPr>
          <a:xfrm>
            <a:off x="502920" y="651052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g3f6b7aa8777_0_0"/>
          <p:cNvSpPr/>
          <p:nvPr/>
        </p:nvSpPr>
        <p:spPr>
          <a:xfrm>
            <a:off x="11658600" y="651052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6" name="Google Shape;1126;g3f6b7aa877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8563" y="1938638"/>
            <a:ext cx="401002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light.png" id="1132" name="Google Shape;11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38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4" name="Google Shape;113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983" y="547543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38"/>
          <p:cNvSpPr/>
          <p:nvPr/>
        </p:nvSpPr>
        <p:spPr>
          <a:xfrm>
            <a:off x="1234440" y="384048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TRANSPARÊNCIA E REPRODUTIBILIDADE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8"/>
          <p:cNvSpPr/>
          <p:nvPr/>
        </p:nvSpPr>
        <p:spPr>
          <a:xfrm>
            <a:off x="1234440" y="621792"/>
            <a:ext cx="10332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B3A6B"/>
                </a:solidFill>
                <a:latin typeface="Cambria"/>
                <a:ea typeface="Cambria"/>
                <a:cs typeface="Cambria"/>
                <a:sym typeface="Cambria"/>
              </a:rPr>
              <a:t>Repositório do Projeto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7" name="Google Shape;1137;p38"/>
          <p:cNvCxnSpPr/>
          <p:nvPr/>
        </p:nvCxnSpPr>
        <p:spPr>
          <a:xfrm>
            <a:off x="502920" y="129844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8DE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8" name="Google Shape;1138;p38"/>
          <p:cNvSpPr/>
          <p:nvPr/>
        </p:nvSpPr>
        <p:spPr>
          <a:xfrm>
            <a:off x="502920" y="1691640"/>
            <a:ext cx="6903720" cy="4343400"/>
          </a:xfrm>
          <a:prstGeom prst="roundRect">
            <a:avLst>
              <a:gd fmla="val 1684" name="adj"/>
            </a:avLst>
          </a:prstGeom>
          <a:solidFill>
            <a:srgbClr val="0E234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38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0" name="Google Shape;114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7552" y="21762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38"/>
          <p:cNvSpPr/>
          <p:nvPr/>
        </p:nvSpPr>
        <p:spPr>
          <a:xfrm>
            <a:off x="1691640" y="21488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github.com/ime-pfc/caixao-de-areia-ar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8"/>
          <p:cNvSpPr/>
          <p:nvPr/>
        </p:nvSpPr>
        <p:spPr>
          <a:xfrm>
            <a:off x="822960" y="2743200"/>
            <a:ext cx="6309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9E2EE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D9E2EE"/>
                </a:solidFill>
                <a:latin typeface="Calibri"/>
                <a:ea typeface="Calibri"/>
                <a:cs typeface="Calibri"/>
                <a:sym typeface="Calibri"/>
              </a:rPr>
              <a:t>Código-fonte completo: motor matemático (RANSAC/SVD/Tsai), GUI CustomTkinter e integração de hardware.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D9E2EE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D9E2EE"/>
                </a:solidFill>
                <a:latin typeface="Calibri"/>
                <a:ea typeface="Calibri"/>
                <a:cs typeface="Calibri"/>
                <a:sym typeface="Calibri"/>
              </a:rPr>
              <a:t>Suíte de 59 testes unitários, executável por qualquer membro da banca (python -m pytest -v).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D9E2EE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D9E2EE"/>
                </a:solidFill>
                <a:latin typeface="Calibri"/>
                <a:ea typeface="Calibri"/>
                <a:cs typeface="Calibri"/>
                <a:sym typeface="Calibri"/>
              </a:rPr>
              <a:t>Histórico de commits documentando cada decisão de projeto — inclusive a adoção de RANSAC + SVD e a otimização de 2,57×.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D9E2EE"/>
              </a:buClr>
              <a:buSzPts val="1250"/>
              <a:buFont typeface="Calibri"/>
              <a:buChar char="–"/>
            </a:pPr>
            <a:r>
              <a:rPr lang="en-US" sz="1250">
                <a:solidFill>
                  <a:srgbClr val="D9E2EE"/>
                </a:solidFill>
                <a:latin typeface="Calibri"/>
                <a:ea typeface="Calibri"/>
                <a:cs typeface="Calibri"/>
                <a:sym typeface="Calibri"/>
              </a:rPr>
              <a:t>DOCUMENTACAO_OFICIAL.md e GUIA_INSTALACAO_INICIANTES.md detalham tudo o que foi apresentado.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8"/>
          <p:cNvSpPr/>
          <p:nvPr/>
        </p:nvSpPr>
        <p:spPr>
          <a:xfrm>
            <a:off x="7589520" y="1691640"/>
            <a:ext cx="4069080" cy="4343400"/>
          </a:xfrm>
          <a:prstGeom prst="roundRect">
            <a:avLst>
              <a:gd fmla="val 1798" name="adj"/>
            </a:avLst>
          </a:prstGeom>
          <a:solidFill>
            <a:srgbClr val="FFFFFF"/>
          </a:solidFill>
          <a:ln cap="flat" cmpd="sng" w="12700">
            <a:solidFill>
              <a:srgbClr val="E3E7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3A6B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8"/>
          <p:cNvSpPr/>
          <p:nvPr/>
        </p:nvSpPr>
        <p:spPr>
          <a:xfrm>
            <a:off x="7818120" y="187452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Por que abrir o repositório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8"/>
          <p:cNvSpPr/>
          <p:nvPr/>
        </p:nvSpPr>
        <p:spPr>
          <a:xfrm>
            <a:off x="7818120" y="2258568"/>
            <a:ext cx="3611880" cy="3639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2430"/>
              </a:buClr>
              <a:buSzPts val="1850"/>
              <a:buFont typeface="Calibri"/>
              <a:buChar char="–"/>
            </a:pPr>
            <a:r>
              <a:rPr lang="en-US" sz="18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Permite auditoria das fórmulas do motor matemático linha a linha.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850"/>
              <a:buFont typeface="Calibri"/>
              <a:buChar char="–"/>
            </a:pPr>
            <a:r>
              <a:rPr lang="en-US" sz="18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Facilita a continuidade do projeto por futuras turmas do IME.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1A2430"/>
              </a:buClr>
              <a:buSzPts val="1850"/>
              <a:buFont typeface="Calibri"/>
              <a:buChar char="–"/>
            </a:pPr>
            <a:r>
              <a:rPr lang="en-US" sz="1850">
                <a:solidFill>
                  <a:srgbClr val="1A2430"/>
                </a:solidFill>
                <a:latin typeface="Calibri"/>
                <a:ea typeface="Calibri"/>
                <a:cs typeface="Calibri"/>
                <a:sym typeface="Calibri"/>
              </a:rPr>
              <a:t>Demonstra reprodutibilidade: qualquer pessoa pode clonar, instalar (venv + requirements.txt) e rodar o modo de simulação sem hardware.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8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B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AA6B5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8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36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40"/>
        </a:solid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dark.png" id="1153" name="Google Shape;11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39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5" name="Google Shape;115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8" y="110093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39"/>
          <p:cNvSpPr/>
          <p:nvPr/>
        </p:nvSpPr>
        <p:spPr>
          <a:xfrm>
            <a:off x="1828800" y="1005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Agradecimentos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9"/>
          <p:cNvSpPr/>
          <p:nvPr/>
        </p:nvSpPr>
        <p:spPr>
          <a:xfrm>
            <a:off x="822960" y="1965960"/>
            <a:ext cx="98755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3E9F2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E3E9F2"/>
                </a:solidFill>
                <a:latin typeface="Calibri"/>
                <a:ea typeface="Calibri"/>
                <a:cs typeface="Calibri"/>
                <a:sym typeface="Calibri"/>
              </a:rPr>
              <a:t>Ao corpo docente orientador, pelo acompanhamento e direcionamento técnico ao longo de todo o projeto.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E3E9F2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E3E9F2"/>
                </a:solidFill>
                <a:latin typeface="Calibri"/>
                <a:ea typeface="Calibri"/>
                <a:cs typeface="Calibri"/>
                <a:sym typeface="Calibri"/>
              </a:rPr>
              <a:t>À Seção de Simulação da AMAN, pela confiança, pela demanda real e pela disponibilidade em validar o sistema.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E3E9F2"/>
              </a:buClr>
              <a:buSzPts val="1500"/>
              <a:buFont typeface="Calibri"/>
              <a:buChar char="–"/>
            </a:pPr>
            <a:r>
              <a:rPr lang="en-US" sz="1500">
                <a:solidFill>
                  <a:srgbClr val="E3E9F2"/>
                </a:solidFill>
                <a:latin typeface="Calibri"/>
                <a:ea typeface="Calibri"/>
                <a:cs typeface="Calibri"/>
                <a:sym typeface="Calibri"/>
              </a:rPr>
              <a:t>À equipe de Cartografia, pelo suporte com os dados de terreno.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8" name="Google Shape;1158;p39"/>
          <p:cNvCxnSpPr/>
          <p:nvPr/>
        </p:nvCxnSpPr>
        <p:spPr>
          <a:xfrm>
            <a:off x="822960" y="4251960"/>
            <a:ext cx="4754880" cy="0"/>
          </a:xfrm>
          <a:prstGeom prst="straightConnector1">
            <a:avLst/>
          </a:prstGeom>
          <a:noFill/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9" name="Google Shape;1159;p39"/>
          <p:cNvSpPr/>
          <p:nvPr/>
        </p:nvSpPr>
        <p:spPr>
          <a:xfrm>
            <a:off x="822960" y="4434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E8C766"/>
                </a:solidFill>
                <a:latin typeface="Calibri"/>
                <a:ea typeface="Calibri"/>
                <a:cs typeface="Calibri"/>
                <a:sym typeface="Calibri"/>
              </a:rPr>
              <a:t>À disposição para os questionamentos da banca examinadora.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9"/>
          <p:cNvSpPr/>
          <p:nvPr/>
        </p:nvSpPr>
        <p:spPr>
          <a:xfrm>
            <a:off x="822960" y="50749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Cadetes: Raquel  ·  [demais integrantes]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9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Orientadores: Prof. Daniel Rodrigues dos Santos · TC Leonardo Assumpção Moreira · TC Bruno Eduardo Madeira · CAP Gabriel da Cruz Fontenelle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9"/>
          <p:cNvSpPr/>
          <p:nvPr/>
        </p:nvSpPr>
        <p:spPr>
          <a:xfrm>
            <a:off x="822960" y="58521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C6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8FA6C6"/>
                </a:solidFill>
                <a:latin typeface="Calibri"/>
                <a:ea typeface="Calibri"/>
                <a:cs typeface="Calibri"/>
                <a:sym typeface="Calibri"/>
              </a:rPr>
              <a:t>Academia Militar das Agulhas Negras — Engenharia de Computação e Eletrônica — 2026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9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340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fc_deck/bg_dark.png" id="1169" name="Google Shape;11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40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rgbClr val="D4A01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1" name="Google Shape;117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498" y="25182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40"/>
          <p:cNvSpPr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“O IME é, sobretudo, uma escola de formação de líderes.”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0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C766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E8C766"/>
                </a:solidFill>
                <a:latin typeface="Calibri"/>
                <a:ea typeface="Calibri"/>
                <a:cs typeface="Calibri"/>
                <a:sym typeface="Calibri"/>
              </a:rPr>
              <a:t>Tarcísio de Freitas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0"/>
          <p:cNvSpPr/>
          <p:nvPr/>
        </p:nvSpPr>
        <p:spPr>
          <a:xfrm>
            <a:off x="822960" y="53949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Obrigado.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0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D1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3D1"/>
                </a:solidFill>
                <a:latin typeface="Calibri"/>
                <a:ea typeface="Calibri"/>
                <a:cs typeface="Calibri"/>
                <a:sym typeface="Calibri"/>
              </a:rPr>
              <a:t>CAIXÃO DE AREIA COM REALIDADE AUMENTADA  ·  PFC 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2026-07-20T23:57:12Z</dcterms:created>
  <dc:creator>PFC - Caixão de Areia com Realidade Aumentada</dc:creator>
</cp:coreProperties>
</file>